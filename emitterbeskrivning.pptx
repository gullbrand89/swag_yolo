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Ramen för mötet: var vi står konceptuellt, inte resultat. Tre frågor jag vill svara på idag — vad beskrivningen är, hur den lärs in, och vad man kan göra med den när man har 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Poängen: signalen är inte brus, den har struktur. Tre nivåer här, cirka 20 pulser på varje, och cykeln nivå 1 → 0 → 1 → 2 upprepas. En människa ser det direkt i bilden. Frågan är hur man får ut det automatiskt, och i ett format man kan lagra.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Formatet är medvetet minimalt. Tre block, ett slut. Det går att läsa som text, det går att jämföra med ett facit token för token, och det går att generera med en avkodare. Det är samma innehåll som ett klassiskt biblioteksinlägg.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Detta är hela motiveringen till en inlärd modell. En regelbaserad metod hittar nivåerna nästan perfekt på ren signal, men kan inte avgöra om ett dubbelt intervall är en ny nivå eller två pulser med en tappad emellan. Det kräver att man ser hela följden och väger in sammanhanget.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Analogin som brukar fungera: det är översättning. Källspråket är pulsföljden, målspråket är beskrivningen. Encodern bygger en representation av hela meningen innan avkodaren börjar skriva — därför kan den väga in något som händer på puls 400 när den bestämmer sig för nivå ett.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Håll det på den här nivån. Punkt ett och två hör ihop: facit matas in förskjutet så att modellen alltid vet vad som stod före, och spärren gör att den inte kan fuska genom att titta på svaret — det är vad som gör att hela sekvensen kan beräknas i ett svep i stället för tecken för tecken. Punkt tre är varför en PRI som ligger en bin fel straffas mildare än en som ligger helt fel. Punkt fyra är den viktiga: siffrorna vi rapporterar kommer från att modellen skriver hela posten på egen hand, utan stöd. Datan och generatorn täcks av [kollegan].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Detta är den del av arbetet som tagit mest tanke och som är minst synlig. Om samma signal kan beskrivas på två sätt får modellen fel för ett svar som är rätt, och det felet går inte att träna bort — det blir ett golv i förlusten. Reglerna är inte kosmetiska, de är vad som gör uppgiften lösbar.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 har byggt separata mätverktyg som svarar på vad som över huvud taget går att härleda ur ett givet fönster. Det ger ett tak att jämföra modellen mot. Utan det taket vet man inte om ett dåligt resultat är modellens fel eller uppgiftens.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Detta är varför formatet är värt mer än en klassificering. En etikett säger vilken sändare det är. En beskrivning säger vad den kommer att göra härnäst — när nästa nivåbyte sker, vilket värde som kommer, hur länge det varar. Det är direkt användbart nedströms.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 ärlig här: vi har inga siffror att visa ännu, och det är avsiktligt. Upplägget har ändrats i grunden den senaste veckan — datan matchar nu den riktiga generatorn — så alla tidigare mätningar är ogiltiga. Första jämförbara körningen är igång.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Avsluta med den här meningen och lämna den uppe under frågestunden.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38"/>
        </a:solidFill>
      </p:bgPr>
    </p:bg>
    <p:spTree>
      <p:nvGrpSpPr>
        <p:cNvPr id="1" name=""/>
        <p:cNvGrpSpPr/>
        <p:nvPr/>
      </p:nvGrpSpPr>
      <p:grpSpPr>
        <a:xfrm>
          <a:off x="0" y="0"/>
          <a:ext cx="0" cy="0"/>
          <a:chOff x="0" y="0"/>
          <a:chExt cx="0" cy="0"/>
        </a:xfrm>
      </p:grpSpPr>
      <p:sp>
        <p:nvSpPr>
          <p:cNvPr id="2" name="Text 0"/>
          <p:cNvSpPr txBox="1"/>
          <p:nvPr/>
        </p:nvSpPr>
        <p:spPr>
          <a:xfrm>
            <a:off x="566928" y="1691640"/>
            <a:ext cx="8412480" cy="1920240"/>
          </a:xfrm>
          <a:prstGeom prst="rect">
            <a:avLst/>
          </a:prstGeom>
          <a:noFill/>
          <a:ln/>
        </p:spPr>
        <p:txBody>
          <a:bodyPr wrap="square" lIns="0" tIns="0" rIns="0" bIns="0" rtlCol="0" anchor="ctr"/>
          <a:lstStyle/>
          <a:p>
            <a:pPr indent="0" marL="0">
              <a:lnSpc>
                <a:spcPts val="5200"/>
              </a:lnSpc>
              <a:buNone/>
            </a:pPr>
            <a:r>
              <a:rPr lang="en-US" sz="4600" b="1" dirty="0">
                <a:solidFill>
                  <a:srgbClr val="FFFFFF"/>
                </a:solidFill>
                <a:latin typeface="Cambria" pitchFamily="34" charset="0"/>
                <a:ea typeface="Cambria" pitchFamily="34" charset="-122"/>
                <a:cs typeface="Cambria" pitchFamily="34" charset="-120"/>
              </a:rPr>
              <a:t>Från pulsflöde till</a:t>
            </a:r>
            <a:endParaRPr lang="en-US" sz="4600" dirty="0"/>
          </a:p>
          <a:p>
            <a:pPr indent="0" marL="0">
              <a:lnSpc>
                <a:spcPts val="5200"/>
              </a:lnSpc>
              <a:buNone/>
            </a:pPr>
            <a:r>
              <a:rPr lang="en-US" sz="4600" b="1" dirty="0">
                <a:solidFill>
                  <a:srgbClr val="FFFFFF"/>
                </a:solidFill>
                <a:latin typeface="Cambria" pitchFamily="34" charset="0"/>
                <a:ea typeface="Cambria" pitchFamily="34" charset="-122"/>
                <a:cs typeface="Cambria" pitchFamily="34" charset="-120"/>
              </a:rPr>
              <a:t>emitterbeskrivning</a:t>
            </a:r>
            <a:endParaRPr lang="en-US" sz="4600" dirty="0"/>
          </a:p>
        </p:txBody>
      </p:sp>
      <p:sp>
        <p:nvSpPr>
          <p:cNvPr id="3" name="Text 1"/>
          <p:cNvSpPr txBox="1"/>
          <p:nvPr/>
        </p:nvSpPr>
        <p:spPr>
          <a:xfrm>
            <a:off x="566928" y="3749040"/>
            <a:ext cx="8595360" cy="731520"/>
          </a:xfrm>
          <a:prstGeom prst="rect">
            <a:avLst/>
          </a:prstGeom>
          <a:noFill/>
          <a:ln/>
        </p:spPr>
        <p:txBody>
          <a:bodyPr wrap="square" lIns="0" tIns="0" rIns="0" bIns="0" rtlCol="0" anchor="ctr"/>
          <a:lstStyle/>
          <a:p>
            <a:pPr indent="0" marL="0">
              <a:buNone/>
            </a:pPr>
            <a:r>
              <a:rPr lang="en-US" sz="1800" dirty="0">
                <a:solidFill>
                  <a:srgbClr val="E08A2E"/>
                </a:solidFill>
                <a:latin typeface="Calibri" pitchFamily="34" charset="0"/>
                <a:ea typeface="Calibri" pitchFamily="34" charset="-122"/>
                <a:cs typeface="Calibri" pitchFamily="34" charset="-120"/>
              </a:rPr>
              <a:t>En sekvensmodell som läser en observerad pulsföljd och skriver ut vad sändaren gör</a:t>
            </a:r>
            <a:endParaRPr lang="en-US" sz="1800" dirty="0"/>
          </a:p>
        </p:txBody>
      </p:sp>
      <p:sp>
        <p:nvSpPr>
          <p:cNvPr id="4" name="Text 2"/>
          <p:cNvSpPr txBox="1"/>
          <p:nvPr/>
        </p:nvSpPr>
        <p:spPr>
          <a:xfrm>
            <a:off x="566928" y="5806440"/>
            <a:ext cx="7315200" cy="365760"/>
          </a:xfrm>
          <a:prstGeom prst="rect">
            <a:avLst/>
          </a:prstGeom>
          <a:noFill/>
          <a:ln/>
        </p:spPr>
        <p:txBody>
          <a:bodyPr wrap="square" lIns="0" tIns="0" rIns="0" bIns="0" rtlCol="0" anchor="ctr"/>
          <a:lstStyle/>
          <a:p>
            <a:pPr indent="0" marL="0">
              <a:buNone/>
            </a:pPr>
            <a:r>
              <a:rPr lang="en-US" sz="1300" dirty="0">
                <a:solidFill>
                  <a:srgbClr val="C9D6E0"/>
                </a:solidFill>
                <a:latin typeface="Calibri" pitchFamily="34" charset="0"/>
                <a:ea typeface="Calibri" pitchFamily="34" charset="-122"/>
                <a:cs typeface="Calibri" pitchFamily="34" charset="-120"/>
              </a:rPr>
              <a:t>Konceptgenomgång · september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658368"/>
          </a:xfrm>
          <a:prstGeom prst="rect">
            <a:avLst/>
          </a:prstGeom>
          <a:noFill/>
          <a:ln/>
        </p:spPr>
        <p:txBody>
          <a:bodyPr wrap="square" lIns="0" tIns="0" rIns="0" bIns="0" rtlCol="0" anchor="ctr"/>
          <a:lstStyle/>
          <a:p>
            <a:pPr indent="0" marL="0">
              <a:buNone/>
            </a:pPr>
            <a:r>
              <a:rPr lang="en-US" sz="3400" b="1" dirty="0">
                <a:solidFill>
                  <a:srgbClr val="1F2A33"/>
                </a:solidFill>
                <a:latin typeface="Cambria" pitchFamily="34" charset="0"/>
                <a:ea typeface="Cambria" pitchFamily="34" charset="-122"/>
                <a:cs typeface="Cambria" pitchFamily="34" charset="-120"/>
              </a:rPr>
              <a:t>En emitter byter PRI enligt ett mönster</a:t>
            </a:r>
            <a:endParaRPr lang="en-US" sz="3400" dirty="0"/>
          </a:p>
        </p:txBody>
      </p:sp>
      <p:sp>
        <p:nvSpPr>
          <p:cNvPr id="3" name="Text 1"/>
          <p:cNvSpPr txBox="1"/>
          <p:nvPr/>
        </p:nvSpPr>
        <p:spPr>
          <a:xfrm>
            <a:off x="566928" y="1060704"/>
            <a:ext cx="11055096" cy="384048"/>
          </a:xfrm>
          <a:prstGeom prst="rect">
            <a:avLst/>
          </a:prstGeom>
          <a:noFill/>
          <a:ln/>
        </p:spPr>
        <p:txBody>
          <a:bodyPr wrap="square" lIns="0" tIns="0" rIns="0" bIns="0" rtlCol="0" anchor="ctr"/>
          <a:lstStyle/>
          <a:p>
            <a:pPr indent="0" marL="0">
              <a:buNone/>
            </a:pPr>
            <a:r>
              <a:rPr lang="en-US" sz="1500" dirty="0">
                <a:solidFill>
                  <a:srgbClr val="5A6B78"/>
                </a:solidFill>
                <a:latin typeface="Calibri" pitchFamily="34" charset="0"/>
                <a:ea typeface="Calibri" pitchFamily="34" charset="-122"/>
                <a:cs typeface="Calibri" pitchFamily="34" charset="-120"/>
              </a:rPr>
              <a:t>Pulsintervallet hoppar mellan ett fåtal nivåer och stannar en stund på varje</a:t>
            </a:r>
            <a:endParaRPr lang="en-US" sz="1500" dirty="0"/>
          </a:p>
        </p:txBody>
      </p:sp>
      <p:pic>
        <p:nvPicPr>
          <p:cNvPr id="4" name="Image 0" descr="f1_signal.png">    </p:cNvPr>
          <p:cNvPicPr>
            <a:picLocks noChangeAspect="1"/>
          </p:cNvPicPr>
          <p:nvPr/>
        </p:nvPicPr>
        <p:blipFill>
          <a:blip r:embed="rId1"/>
          <a:stretch>
            <a:fillRect/>
          </a:stretch>
        </p:blipFill>
        <p:spPr>
          <a:xfrm>
            <a:off x="566928" y="1664208"/>
            <a:ext cx="11055096" cy="4224528"/>
          </a:xfrm>
          <a:prstGeom prst="rect">
            <a:avLst/>
          </a:prstGeom>
        </p:spPr>
      </p:pic>
      <p:sp>
        <p:nvSpPr>
          <p:cNvPr id="5" name="Text 2"/>
          <p:cNvSpPr txBox="1"/>
          <p:nvPr/>
        </p:nvSpPr>
        <p:spPr>
          <a:xfrm>
            <a:off x="566928" y="6016752"/>
            <a:ext cx="11055096" cy="384048"/>
          </a:xfrm>
          <a:prstGeom prst="rect">
            <a:avLst/>
          </a:prstGeom>
          <a:noFill/>
          <a:ln/>
        </p:spPr>
        <p:txBody>
          <a:bodyPr wrap="square" lIns="0" tIns="0" rIns="0" bIns="0" rtlCol="0" anchor="ctr"/>
          <a:lstStyle/>
          <a:p>
            <a:pPr indent="0" marL="0">
              <a:buNone/>
            </a:pPr>
            <a:r>
              <a:rPr lang="en-US" sz="1200" i="1" dirty="0">
                <a:solidFill>
                  <a:srgbClr val="5A6B78"/>
                </a:solidFill>
                <a:latin typeface="Calibri" pitchFamily="34" charset="0"/>
                <a:ea typeface="Calibri" pitchFamily="34" charset="-122"/>
                <a:cs typeface="Calibri" pitchFamily="34" charset="-120"/>
              </a:rPr>
              <a:t>Detta är en enda emitter, sedd som avstånd mellan pulser. Mönstret upprepar sig — och just upprepningen är vad vi vill fånga.</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658368"/>
          </a:xfrm>
          <a:prstGeom prst="rect">
            <a:avLst/>
          </a:prstGeom>
          <a:noFill/>
          <a:ln/>
        </p:spPr>
        <p:txBody>
          <a:bodyPr wrap="square" lIns="0" tIns="0" rIns="0" bIns="0" rtlCol="0" anchor="ctr"/>
          <a:lstStyle/>
          <a:p>
            <a:pPr indent="0" marL="0">
              <a:buNone/>
            </a:pPr>
            <a:r>
              <a:rPr lang="en-US" sz="3400" b="1" dirty="0">
                <a:solidFill>
                  <a:srgbClr val="1F2A33"/>
                </a:solidFill>
                <a:latin typeface="Cambria" pitchFamily="34" charset="0"/>
                <a:ea typeface="Cambria" pitchFamily="34" charset="-122"/>
                <a:cs typeface="Cambria" pitchFamily="34" charset="-120"/>
              </a:rPr>
              <a:t>Beskrivningen är en kort teckensekvens</a:t>
            </a:r>
            <a:endParaRPr lang="en-US" sz="3400" dirty="0"/>
          </a:p>
        </p:txBody>
      </p:sp>
      <p:sp>
        <p:nvSpPr>
          <p:cNvPr id="3" name="Text 1"/>
          <p:cNvSpPr txBox="1"/>
          <p:nvPr/>
        </p:nvSpPr>
        <p:spPr>
          <a:xfrm>
            <a:off x="566928" y="1060704"/>
            <a:ext cx="11055096" cy="384048"/>
          </a:xfrm>
          <a:prstGeom prst="rect">
            <a:avLst/>
          </a:prstGeom>
          <a:noFill/>
          <a:ln/>
        </p:spPr>
        <p:txBody>
          <a:bodyPr wrap="square" lIns="0" tIns="0" rIns="0" bIns="0" rtlCol="0" anchor="ctr"/>
          <a:lstStyle/>
          <a:p>
            <a:pPr indent="0" marL="0">
              <a:buNone/>
            </a:pPr>
            <a:r>
              <a:rPr lang="en-US" sz="1500" dirty="0">
                <a:solidFill>
                  <a:srgbClr val="5A6B78"/>
                </a:solidFill>
                <a:latin typeface="Calibri" pitchFamily="34" charset="0"/>
                <a:ea typeface="Calibri" pitchFamily="34" charset="-122"/>
                <a:cs typeface="Calibri" pitchFamily="34" charset="-120"/>
              </a:rPr>
              <a:t>Samma information som ett biblioteksinlägg, men i ett format en modell kan generera</a:t>
            </a:r>
            <a:endParaRPr lang="en-US" sz="1500" dirty="0"/>
          </a:p>
        </p:txBody>
      </p:sp>
      <p:sp>
        <p:nvSpPr>
          <p:cNvPr id="4" name="Shape 2"/>
          <p:cNvSpPr/>
          <p:nvPr/>
        </p:nvSpPr>
        <p:spPr>
          <a:xfrm>
            <a:off x="566928" y="1828800"/>
            <a:ext cx="11055096" cy="1143000"/>
          </a:xfrm>
          <a:prstGeom prst="roundRect">
            <a:avLst>
              <a:gd name="adj" fmla="val 7200"/>
            </a:avLst>
          </a:prstGeom>
          <a:solidFill>
            <a:srgbClr val="F4F6F8"/>
          </a:solidFill>
          <a:ln w="12700">
            <a:solidFill>
              <a:srgbClr val="F4F6F8"/>
            </a:solidFill>
            <a:prstDash val="solid"/>
          </a:ln>
        </p:spPr>
      </p:sp>
      <p:sp>
        <p:nvSpPr>
          <p:cNvPr id="5" name="Text 3"/>
          <p:cNvSpPr txBox="1"/>
          <p:nvPr/>
        </p:nvSpPr>
        <p:spPr>
          <a:xfrm>
            <a:off x="886968" y="1828800"/>
            <a:ext cx="10415016" cy="1143000"/>
          </a:xfrm>
          <a:prstGeom prst="rect">
            <a:avLst/>
          </a:prstGeom>
          <a:noFill/>
          <a:ln/>
        </p:spPr>
        <p:txBody>
          <a:bodyPr wrap="square" lIns="0" tIns="0" rIns="0" bIns="0" rtlCol="0" anchor="ctr"/>
          <a:lstStyle/>
          <a:p>
            <a:pPr indent="0" marL="0">
              <a:buNone/>
            </a:pPr>
            <a:r>
              <a:rPr lang="en-US" sz="1500" dirty="0">
                <a:solidFill>
                  <a:srgbClr val="1F2A33"/>
                </a:solidFill>
                <a:latin typeface="Courier New" pitchFamily="34" charset="0"/>
                <a:ea typeface="Courier New" pitchFamily="34" charset="-122"/>
                <a:cs typeface="Courier New" pitchFamily="34" charset="-120"/>
              </a:rPr>
              <a:t>LEVELS  L0 6.3µs  L1 212.1µs  L2 418.0µs   ORDER FIXED  L0 L1 L2 L1   DWELL FIXED  21   END</a:t>
            </a:r>
            <a:endParaRPr lang="en-US" sz="1500" dirty="0"/>
          </a:p>
        </p:txBody>
      </p:sp>
      <p:sp>
        <p:nvSpPr>
          <p:cNvPr id="6" name="Shape 4"/>
          <p:cNvSpPr/>
          <p:nvPr/>
        </p:nvSpPr>
        <p:spPr>
          <a:xfrm>
            <a:off x="566928" y="3337560"/>
            <a:ext cx="420624" cy="420624"/>
          </a:xfrm>
          <a:prstGeom prst="ellipse">
            <a:avLst/>
          </a:prstGeom>
          <a:solidFill>
            <a:srgbClr val="2F6FB2"/>
          </a:solidFill>
          <a:ln w="12700">
            <a:solidFill>
              <a:srgbClr val="2F6FB2"/>
            </a:solidFill>
            <a:prstDash val="solid"/>
          </a:ln>
        </p:spPr>
      </p:sp>
      <p:sp>
        <p:nvSpPr>
          <p:cNvPr id="7" name="Text 5"/>
          <p:cNvSpPr txBox="1"/>
          <p:nvPr/>
        </p:nvSpPr>
        <p:spPr>
          <a:xfrm>
            <a:off x="566928" y="3337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1225296" y="3337560"/>
            <a:ext cx="1737360" cy="420624"/>
          </a:xfrm>
          <a:prstGeom prst="rect">
            <a:avLst/>
          </a:prstGeom>
          <a:noFill/>
          <a:ln/>
        </p:spPr>
        <p:txBody>
          <a:bodyPr wrap="square" lIns="0" tIns="0" rIns="0" bIns="0" rtlCol="0" anchor="ctr"/>
          <a:lstStyle/>
          <a:p>
            <a:pPr indent="0" marL="0">
              <a:buNone/>
            </a:pPr>
            <a:r>
              <a:rPr lang="en-US" sz="1600" b="1" dirty="0">
                <a:solidFill>
                  <a:srgbClr val="2F6FB2"/>
                </a:solidFill>
                <a:latin typeface="Calibri" pitchFamily="34" charset="0"/>
                <a:ea typeface="Calibri" pitchFamily="34" charset="-122"/>
                <a:cs typeface="Calibri" pitchFamily="34" charset="-120"/>
              </a:rPr>
              <a:t>LEVELS</a:t>
            </a:r>
            <a:endParaRPr lang="en-US" sz="1600" dirty="0"/>
          </a:p>
        </p:txBody>
      </p:sp>
      <p:sp>
        <p:nvSpPr>
          <p:cNvPr id="9" name="Text 7"/>
          <p:cNvSpPr txBox="1"/>
          <p:nvPr/>
        </p:nvSpPr>
        <p:spPr>
          <a:xfrm>
            <a:off x="2852928" y="3337560"/>
            <a:ext cx="8769096" cy="420624"/>
          </a:xfrm>
          <a:prstGeom prst="rect">
            <a:avLst/>
          </a:prstGeom>
          <a:noFill/>
          <a:ln/>
        </p:spPr>
        <p:txBody>
          <a:bodyPr wrap="square" lIns="0" tIns="0" rIns="0" bIns="0" rtlCol="0" anchor="ctr"/>
          <a:lstStyle/>
          <a:p>
            <a:pPr indent="0" marL="0">
              <a:buNone/>
            </a:pPr>
            <a:r>
              <a:rPr lang="en-US" sz="1500" dirty="0">
                <a:solidFill>
                  <a:srgbClr val="1F2A33"/>
                </a:solidFill>
                <a:latin typeface="Calibri" pitchFamily="34" charset="0"/>
                <a:ea typeface="Calibri" pitchFamily="34" charset="-122"/>
                <a:cs typeface="Calibri" pitchFamily="34" charset="-120"/>
              </a:rPr>
              <a:t>vilka PRI-nivåer emittern har</a:t>
            </a:r>
            <a:endParaRPr lang="en-US" sz="1500" dirty="0"/>
          </a:p>
        </p:txBody>
      </p:sp>
      <p:sp>
        <p:nvSpPr>
          <p:cNvPr id="10" name="Shape 8"/>
          <p:cNvSpPr/>
          <p:nvPr/>
        </p:nvSpPr>
        <p:spPr>
          <a:xfrm>
            <a:off x="566928" y="4306824"/>
            <a:ext cx="420624" cy="420624"/>
          </a:xfrm>
          <a:prstGeom prst="ellipse">
            <a:avLst/>
          </a:prstGeom>
          <a:solidFill>
            <a:srgbClr val="E08A2E"/>
          </a:solidFill>
          <a:ln w="12700">
            <a:solidFill>
              <a:srgbClr val="E08A2E"/>
            </a:solidFill>
            <a:prstDash val="solid"/>
          </a:ln>
        </p:spPr>
      </p:sp>
      <p:sp>
        <p:nvSpPr>
          <p:cNvPr id="11" name="Text 9"/>
          <p:cNvSpPr txBox="1"/>
          <p:nvPr/>
        </p:nvSpPr>
        <p:spPr>
          <a:xfrm>
            <a:off x="566928" y="43068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1225296" y="4306824"/>
            <a:ext cx="1737360" cy="420624"/>
          </a:xfrm>
          <a:prstGeom prst="rect">
            <a:avLst/>
          </a:prstGeom>
          <a:noFill/>
          <a:ln/>
        </p:spPr>
        <p:txBody>
          <a:bodyPr wrap="square" lIns="0" tIns="0" rIns="0" bIns="0" rtlCol="0" anchor="ctr"/>
          <a:lstStyle/>
          <a:p>
            <a:pPr indent="0" marL="0">
              <a:buNone/>
            </a:pPr>
            <a:r>
              <a:rPr lang="en-US" sz="1600" b="1" dirty="0">
                <a:solidFill>
                  <a:srgbClr val="E08A2E"/>
                </a:solidFill>
                <a:latin typeface="Calibri" pitchFamily="34" charset="0"/>
                <a:ea typeface="Calibri" pitchFamily="34" charset="-122"/>
                <a:cs typeface="Calibri" pitchFamily="34" charset="-120"/>
              </a:rPr>
              <a:t>ORDER</a:t>
            </a:r>
            <a:endParaRPr lang="en-US" sz="1600" dirty="0"/>
          </a:p>
        </p:txBody>
      </p:sp>
      <p:sp>
        <p:nvSpPr>
          <p:cNvPr id="13" name="Text 11"/>
          <p:cNvSpPr txBox="1"/>
          <p:nvPr/>
        </p:nvSpPr>
        <p:spPr>
          <a:xfrm>
            <a:off x="2852928" y="4306824"/>
            <a:ext cx="8769096" cy="420624"/>
          </a:xfrm>
          <a:prstGeom prst="rect">
            <a:avLst/>
          </a:prstGeom>
          <a:noFill/>
          <a:ln/>
        </p:spPr>
        <p:txBody>
          <a:bodyPr wrap="square" lIns="0" tIns="0" rIns="0" bIns="0" rtlCol="0" anchor="ctr"/>
          <a:lstStyle/>
          <a:p>
            <a:pPr indent="0" marL="0">
              <a:buNone/>
            </a:pPr>
            <a:r>
              <a:rPr lang="en-US" sz="1500" dirty="0">
                <a:solidFill>
                  <a:srgbClr val="1F2A33"/>
                </a:solidFill>
                <a:latin typeface="Calibri" pitchFamily="34" charset="0"/>
                <a:ea typeface="Calibri" pitchFamily="34" charset="-122"/>
                <a:cs typeface="Calibri" pitchFamily="34" charset="-120"/>
              </a:rPr>
              <a:t>i vilken ordning den besöker dem — eller om ordningen är slumpad</a:t>
            </a:r>
            <a:endParaRPr lang="en-US" sz="1500" dirty="0"/>
          </a:p>
        </p:txBody>
      </p:sp>
      <p:sp>
        <p:nvSpPr>
          <p:cNvPr id="14" name="Shape 12"/>
          <p:cNvSpPr/>
          <p:nvPr/>
        </p:nvSpPr>
        <p:spPr>
          <a:xfrm>
            <a:off x="566928" y="5276088"/>
            <a:ext cx="420624" cy="420624"/>
          </a:xfrm>
          <a:prstGeom prst="ellipse">
            <a:avLst/>
          </a:prstGeom>
          <a:solidFill>
            <a:srgbClr val="3F8F5E"/>
          </a:solidFill>
          <a:ln w="12700">
            <a:solidFill>
              <a:srgbClr val="3F8F5E"/>
            </a:solidFill>
            <a:prstDash val="solid"/>
          </a:ln>
        </p:spPr>
      </p:sp>
      <p:sp>
        <p:nvSpPr>
          <p:cNvPr id="15" name="Text 13"/>
          <p:cNvSpPr txBox="1"/>
          <p:nvPr/>
        </p:nvSpPr>
        <p:spPr>
          <a:xfrm>
            <a:off x="566928" y="527608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txBox="1"/>
          <p:nvPr/>
        </p:nvSpPr>
        <p:spPr>
          <a:xfrm>
            <a:off x="1225296" y="5276088"/>
            <a:ext cx="1737360" cy="420624"/>
          </a:xfrm>
          <a:prstGeom prst="rect">
            <a:avLst/>
          </a:prstGeom>
          <a:noFill/>
          <a:ln/>
        </p:spPr>
        <p:txBody>
          <a:bodyPr wrap="square" lIns="0" tIns="0" rIns="0" bIns="0" rtlCol="0" anchor="ctr"/>
          <a:lstStyle/>
          <a:p>
            <a:pPr indent="0" marL="0">
              <a:buNone/>
            </a:pPr>
            <a:r>
              <a:rPr lang="en-US" sz="1600" b="1" dirty="0">
                <a:solidFill>
                  <a:srgbClr val="3F8F5E"/>
                </a:solidFill>
                <a:latin typeface="Calibri" pitchFamily="34" charset="0"/>
                <a:ea typeface="Calibri" pitchFamily="34" charset="-122"/>
                <a:cs typeface="Calibri" pitchFamily="34" charset="-120"/>
              </a:rPr>
              <a:t>DWELL</a:t>
            </a:r>
            <a:endParaRPr lang="en-US" sz="1600" dirty="0"/>
          </a:p>
        </p:txBody>
      </p:sp>
      <p:sp>
        <p:nvSpPr>
          <p:cNvPr id="17" name="Text 15"/>
          <p:cNvSpPr txBox="1"/>
          <p:nvPr/>
        </p:nvSpPr>
        <p:spPr>
          <a:xfrm>
            <a:off x="2852928" y="5276088"/>
            <a:ext cx="8769096" cy="420624"/>
          </a:xfrm>
          <a:prstGeom prst="rect">
            <a:avLst/>
          </a:prstGeom>
          <a:noFill/>
          <a:ln/>
        </p:spPr>
        <p:txBody>
          <a:bodyPr wrap="square" lIns="0" tIns="0" rIns="0" bIns="0" rtlCol="0" anchor="ctr"/>
          <a:lstStyle/>
          <a:p>
            <a:pPr indent="0" marL="0">
              <a:buNone/>
            </a:pPr>
            <a:r>
              <a:rPr lang="en-US" sz="1500" dirty="0">
                <a:solidFill>
                  <a:srgbClr val="1F2A33"/>
                </a:solidFill>
                <a:latin typeface="Calibri" pitchFamily="34" charset="0"/>
                <a:ea typeface="Calibri" pitchFamily="34" charset="-122"/>
                <a:cs typeface="Calibri" pitchFamily="34" charset="-120"/>
              </a:rPr>
              <a:t>hur många pulser den stannar på varje besök</a:t>
            </a:r>
            <a:endParaRPr lang="en-US" sz="1500" dirty="0"/>
          </a:p>
        </p:txBody>
      </p:sp>
      <p:sp>
        <p:nvSpPr>
          <p:cNvPr id="18" name="Text 16"/>
          <p:cNvSpPr txBox="1"/>
          <p:nvPr/>
        </p:nvSpPr>
        <p:spPr>
          <a:xfrm>
            <a:off x="566928" y="6053328"/>
            <a:ext cx="11055096" cy="365760"/>
          </a:xfrm>
          <a:prstGeom prst="rect">
            <a:avLst/>
          </a:prstGeom>
          <a:noFill/>
          <a:ln/>
        </p:spPr>
        <p:txBody>
          <a:bodyPr wrap="square" lIns="0" tIns="0" rIns="0" bIns="0" rtlCol="0" anchor="ctr"/>
          <a:lstStyle/>
          <a:p>
            <a:pPr indent="0" marL="0">
              <a:buNone/>
            </a:pPr>
            <a:r>
              <a:rPr lang="en-US" sz="1200" i="1" dirty="0">
                <a:solidFill>
                  <a:srgbClr val="5A6B78"/>
                </a:solidFill>
                <a:latin typeface="Calibri" pitchFamily="34" charset="0"/>
                <a:ea typeface="Calibri" pitchFamily="34" charset="-122"/>
                <a:cs typeface="Calibri" pitchFamily="34" charset="-120"/>
              </a:rPr>
              <a:t>Observera L1 två gånger i ORDER — emittern återbesöker samma nivå inom en cykel.</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658368"/>
          </a:xfrm>
          <a:prstGeom prst="rect">
            <a:avLst/>
          </a:prstGeom>
          <a:noFill/>
          <a:ln/>
        </p:spPr>
        <p:txBody>
          <a:bodyPr wrap="square" lIns="0" tIns="0" rIns="0" bIns="0" rtlCol="0" anchor="ctr"/>
          <a:lstStyle/>
          <a:p>
            <a:pPr indent="0" marL="0">
              <a:buNone/>
            </a:pPr>
            <a:r>
              <a:rPr lang="en-US" sz="3400" b="1" dirty="0">
                <a:solidFill>
                  <a:srgbClr val="1F2A33"/>
                </a:solidFill>
                <a:latin typeface="Cambria" pitchFamily="34" charset="0"/>
                <a:ea typeface="Cambria" pitchFamily="34" charset="-122"/>
                <a:cs typeface="Cambria" pitchFamily="34" charset="-120"/>
              </a:rPr>
              <a:t>Det svåra är inte att hitta nivåerna</a:t>
            </a:r>
            <a:endParaRPr lang="en-US" sz="3400" dirty="0"/>
          </a:p>
        </p:txBody>
      </p:sp>
      <p:sp>
        <p:nvSpPr>
          <p:cNvPr id="3" name="Text 1"/>
          <p:cNvSpPr txBox="1"/>
          <p:nvPr/>
        </p:nvSpPr>
        <p:spPr>
          <a:xfrm>
            <a:off x="566928" y="1060704"/>
            <a:ext cx="11055096" cy="384048"/>
          </a:xfrm>
          <a:prstGeom prst="rect">
            <a:avLst/>
          </a:prstGeom>
          <a:noFill/>
          <a:ln/>
        </p:spPr>
        <p:txBody>
          <a:bodyPr wrap="square" lIns="0" tIns="0" rIns="0" bIns="0" rtlCol="0" anchor="ctr"/>
          <a:lstStyle/>
          <a:p>
            <a:pPr indent="0" marL="0">
              <a:buNone/>
            </a:pPr>
            <a:r>
              <a:rPr lang="en-US" sz="1500" dirty="0">
                <a:solidFill>
                  <a:srgbClr val="5A6B78"/>
                </a:solidFill>
                <a:latin typeface="Calibri" pitchFamily="34" charset="0"/>
                <a:ea typeface="Calibri" pitchFamily="34" charset="-122"/>
                <a:cs typeface="Calibri" pitchFamily="34" charset="-120"/>
              </a:rPr>
              <a:t>Det svåra är att veta vilka som är äkta när pulser försvinner</a:t>
            </a:r>
            <a:endParaRPr lang="en-US" sz="1500" dirty="0"/>
          </a:p>
        </p:txBody>
      </p:sp>
      <p:pic>
        <p:nvPicPr>
          <p:cNvPr id="4" name="Image 0" descr="f2_bortfall.png">    </p:cNvPr>
          <p:cNvPicPr>
            <a:picLocks noChangeAspect="1"/>
          </p:cNvPicPr>
          <p:nvPr/>
        </p:nvPicPr>
        <p:blipFill>
          <a:blip r:embed="rId1"/>
          <a:stretch>
            <a:fillRect/>
          </a:stretch>
        </p:blipFill>
        <p:spPr>
          <a:xfrm>
            <a:off x="566928" y="1664208"/>
            <a:ext cx="11055096" cy="4224528"/>
          </a:xfrm>
          <a:prstGeom prst="rect">
            <a:avLst/>
          </a:prstGeom>
        </p:spPr>
      </p:pic>
      <p:sp>
        <p:nvSpPr>
          <p:cNvPr id="5" name="Text 2"/>
          <p:cNvSpPr txBox="1"/>
          <p:nvPr/>
        </p:nvSpPr>
        <p:spPr>
          <a:xfrm>
            <a:off x="566928" y="6016752"/>
            <a:ext cx="11055096" cy="384048"/>
          </a:xfrm>
          <a:prstGeom prst="rect">
            <a:avLst/>
          </a:prstGeom>
          <a:noFill/>
          <a:ln/>
        </p:spPr>
        <p:txBody>
          <a:bodyPr wrap="square" lIns="0" tIns="0" rIns="0" bIns="0" rtlCol="0" anchor="ctr"/>
          <a:lstStyle/>
          <a:p>
            <a:pPr indent="0" marL="0">
              <a:buNone/>
            </a:pPr>
            <a:r>
              <a:rPr lang="en-US" sz="1200" i="1" dirty="0">
                <a:solidFill>
                  <a:srgbClr val="C0392B"/>
                </a:solidFill>
                <a:latin typeface="Calibri" pitchFamily="34" charset="0"/>
                <a:ea typeface="Calibri" pitchFamily="34" charset="-122"/>
                <a:cs typeface="Calibri" pitchFamily="34" charset="-120"/>
              </a:rPr>
              <a:t>Tappas en puls mäts avståndet över den som saknas. Två intervall blir ett — och det ser ut som ett tillstånd emittern aldrig haft.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658368"/>
          </a:xfrm>
          <a:prstGeom prst="rect">
            <a:avLst/>
          </a:prstGeom>
          <a:noFill/>
          <a:ln/>
        </p:spPr>
        <p:txBody>
          <a:bodyPr wrap="square" lIns="0" tIns="0" rIns="0" bIns="0" rtlCol="0" anchor="ctr"/>
          <a:lstStyle/>
          <a:p>
            <a:pPr indent="0" marL="0">
              <a:buNone/>
            </a:pPr>
            <a:r>
              <a:rPr lang="en-US" sz="3400" b="1" dirty="0">
                <a:solidFill>
                  <a:srgbClr val="1F2A33"/>
                </a:solidFill>
                <a:latin typeface="Cambria" pitchFamily="34" charset="0"/>
                <a:ea typeface="Cambria" pitchFamily="34" charset="-122"/>
                <a:cs typeface="Cambria" pitchFamily="34" charset="-120"/>
              </a:rPr>
              <a:t>Modellen läser hela följden och skriver beskrivningen</a:t>
            </a:r>
            <a:endParaRPr lang="en-US" sz="3400" dirty="0"/>
          </a:p>
        </p:txBody>
      </p:sp>
      <p:sp>
        <p:nvSpPr>
          <p:cNvPr id="3" name="Text 1"/>
          <p:cNvSpPr txBox="1"/>
          <p:nvPr/>
        </p:nvSpPr>
        <p:spPr>
          <a:xfrm>
            <a:off x="566928" y="1060704"/>
            <a:ext cx="11055096" cy="384048"/>
          </a:xfrm>
          <a:prstGeom prst="rect">
            <a:avLst/>
          </a:prstGeom>
          <a:noFill/>
          <a:ln/>
        </p:spPr>
        <p:txBody>
          <a:bodyPr wrap="square" lIns="0" tIns="0" rIns="0" bIns="0" rtlCol="0" anchor="ctr"/>
          <a:lstStyle/>
          <a:p>
            <a:pPr indent="0" marL="0">
              <a:buNone/>
            </a:pPr>
            <a:r>
              <a:rPr lang="en-US" sz="1500" dirty="0">
                <a:solidFill>
                  <a:srgbClr val="5A6B78"/>
                </a:solidFill>
                <a:latin typeface="Calibri" pitchFamily="34" charset="0"/>
                <a:ea typeface="Calibri" pitchFamily="34" charset="-122"/>
                <a:cs typeface="Calibri" pitchFamily="34" charset="-120"/>
              </a:rPr>
              <a:t>Encoder–avkodare, samma familj som översättningsmodeller</a:t>
            </a:r>
            <a:endParaRPr lang="en-US" sz="1500" dirty="0"/>
          </a:p>
        </p:txBody>
      </p:sp>
      <p:pic>
        <p:nvPicPr>
          <p:cNvPr id="4" name="Image 0" descr="f4_pipeline.png">    </p:cNvPr>
          <p:cNvPicPr>
            <a:picLocks noChangeAspect="1"/>
          </p:cNvPicPr>
          <p:nvPr/>
        </p:nvPicPr>
        <p:blipFill>
          <a:blip r:embed="rId1"/>
          <a:stretch>
            <a:fillRect/>
          </a:stretch>
        </p:blipFill>
        <p:spPr>
          <a:xfrm>
            <a:off x="566928" y="2057400"/>
            <a:ext cx="11055096" cy="3017520"/>
          </a:xfrm>
          <a:prstGeom prst="rect">
            <a:avLst/>
          </a:prstGeom>
        </p:spPr>
      </p:pic>
      <p:sp>
        <p:nvSpPr>
          <p:cNvPr id="5" name="Text 2"/>
          <p:cNvSpPr txBox="1"/>
          <p:nvPr/>
        </p:nvSpPr>
        <p:spPr>
          <a:xfrm>
            <a:off x="566928" y="5440680"/>
            <a:ext cx="1554480" cy="310896"/>
          </a:xfrm>
          <a:prstGeom prst="rect">
            <a:avLst/>
          </a:prstGeom>
          <a:noFill/>
          <a:ln/>
        </p:spPr>
        <p:txBody>
          <a:bodyPr wrap="square" lIns="0" tIns="0" rIns="0" bIns="0" rtlCol="0" anchor="ctr"/>
          <a:lstStyle/>
          <a:p>
            <a:pPr indent="0" marL="0">
              <a:buNone/>
            </a:pPr>
            <a:r>
              <a:rPr lang="en-US" sz="1500" b="1" dirty="0">
                <a:solidFill>
                  <a:srgbClr val="2F6FB2"/>
                </a:solidFill>
                <a:latin typeface="Calibri" pitchFamily="34" charset="0"/>
                <a:ea typeface="Calibri" pitchFamily="34" charset="-122"/>
                <a:cs typeface="Calibri" pitchFamily="34" charset="-120"/>
              </a:rPr>
              <a:t>Encodern</a:t>
            </a:r>
            <a:endParaRPr lang="en-US" sz="1500" dirty="0"/>
          </a:p>
        </p:txBody>
      </p:sp>
      <p:sp>
        <p:nvSpPr>
          <p:cNvPr id="6" name="Text 3"/>
          <p:cNvSpPr txBox="1"/>
          <p:nvPr/>
        </p:nvSpPr>
        <p:spPr>
          <a:xfrm>
            <a:off x="566928" y="5779008"/>
            <a:ext cx="5212080" cy="603504"/>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läser alla 512 pulser samtidigt och kan jämföra tidigt mot sent</a:t>
            </a:r>
            <a:endParaRPr lang="en-US" sz="1300" dirty="0"/>
          </a:p>
        </p:txBody>
      </p:sp>
      <p:sp>
        <p:nvSpPr>
          <p:cNvPr id="7" name="Text 4"/>
          <p:cNvSpPr txBox="1"/>
          <p:nvPr/>
        </p:nvSpPr>
        <p:spPr>
          <a:xfrm>
            <a:off x="6236208" y="5440680"/>
            <a:ext cx="1554480" cy="310896"/>
          </a:xfrm>
          <a:prstGeom prst="rect">
            <a:avLst/>
          </a:prstGeom>
          <a:noFill/>
          <a:ln/>
        </p:spPr>
        <p:txBody>
          <a:bodyPr wrap="square" lIns="0" tIns="0" rIns="0" bIns="0" rtlCol="0" anchor="ctr"/>
          <a:lstStyle/>
          <a:p>
            <a:pPr indent="0" marL="0">
              <a:buNone/>
            </a:pPr>
            <a:r>
              <a:rPr lang="en-US" sz="1500" b="1" dirty="0">
                <a:solidFill>
                  <a:srgbClr val="E08A2E"/>
                </a:solidFill>
                <a:latin typeface="Calibri" pitchFamily="34" charset="0"/>
                <a:ea typeface="Calibri" pitchFamily="34" charset="-122"/>
                <a:cs typeface="Calibri" pitchFamily="34" charset="-120"/>
              </a:rPr>
              <a:t>Avkodaren</a:t>
            </a:r>
            <a:endParaRPr lang="en-US" sz="1500" dirty="0"/>
          </a:p>
        </p:txBody>
      </p:sp>
      <p:sp>
        <p:nvSpPr>
          <p:cNvPr id="8" name="Text 5"/>
          <p:cNvSpPr txBox="1"/>
          <p:nvPr/>
        </p:nvSpPr>
        <p:spPr>
          <a:xfrm>
            <a:off x="6236208" y="5779008"/>
            <a:ext cx="5212080" cy="603504"/>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skriver beskrivningen ett tecken i taget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658368"/>
          </a:xfrm>
          <a:prstGeom prst="rect">
            <a:avLst/>
          </a:prstGeom>
          <a:noFill/>
          <a:ln/>
        </p:spPr>
        <p:txBody>
          <a:bodyPr wrap="square" lIns="0" tIns="0" rIns="0" bIns="0" rtlCol="0" anchor="ctr"/>
          <a:lstStyle/>
          <a:p>
            <a:pPr indent="0" marL="0">
              <a:buNone/>
            </a:pPr>
            <a:r>
              <a:rPr lang="en-US" sz="3400" b="1" dirty="0">
                <a:solidFill>
                  <a:srgbClr val="1F2A33"/>
                </a:solidFill>
                <a:latin typeface="Cambria" pitchFamily="34" charset="0"/>
                <a:ea typeface="Cambria" pitchFamily="34" charset="-122"/>
                <a:cs typeface="Cambria" pitchFamily="34" charset="-120"/>
              </a:rPr>
              <a:t>Så lär sig modellen</a:t>
            </a:r>
            <a:endParaRPr lang="en-US" sz="3400" dirty="0"/>
          </a:p>
        </p:txBody>
      </p:sp>
      <p:sp>
        <p:nvSpPr>
          <p:cNvPr id="3" name="Text 1"/>
          <p:cNvSpPr txBox="1"/>
          <p:nvPr/>
        </p:nvSpPr>
        <p:spPr>
          <a:xfrm>
            <a:off x="566928" y="1060704"/>
            <a:ext cx="11055096" cy="384048"/>
          </a:xfrm>
          <a:prstGeom prst="rect">
            <a:avLst/>
          </a:prstGeom>
          <a:noFill/>
          <a:ln/>
        </p:spPr>
        <p:txBody>
          <a:bodyPr wrap="square" lIns="0" tIns="0" rIns="0" bIns="0" rtlCol="0" anchor="ctr"/>
          <a:lstStyle/>
          <a:p>
            <a:pPr indent="0" marL="0">
              <a:buNone/>
            </a:pPr>
            <a:r>
              <a:rPr lang="en-US" sz="1500" dirty="0">
                <a:solidFill>
                  <a:srgbClr val="5A6B78"/>
                </a:solidFill>
                <a:latin typeface="Calibri" pitchFamily="34" charset="0"/>
                <a:ea typeface="Calibri" pitchFamily="34" charset="-122"/>
                <a:cs typeface="Calibri" pitchFamily="34" charset="-120"/>
              </a:rPr>
              <a:t>Den tränas på att förutsäga nästa tecken i beskrivningen, ett facit i taget</a:t>
            </a:r>
            <a:endParaRPr lang="en-US" sz="1500" dirty="0"/>
          </a:p>
        </p:txBody>
      </p:sp>
      <p:sp>
        <p:nvSpPr>
          <p:cNvPr id="4" name="Shape 2"/>
          <p:cNvSpPr/>
          <p:nvPr/>
        </p:nvSpPr>
        <p:spPr>
          <a:xfrm>
            <a:off x="566928" y="1874520"/>
            <a:ext cx="11055096" cy="960120"/>
          </a:xfrm>
          <a:prstGeom prst="roundRect">
            <a:avLst>
              <a:gd name="adj" fmla="val 8571"/>
            </a:avLst>
          </a:prstGeom>
          <a:solidFill>
            <a:srgbClr val="FFFFFF"/>
          </a:solidFill>
          <a:ln w="12700">
            <a:solidFill>
              <a:srgbClr val="FFFFFF"/>
            </a:solidFill>
            <a:prstDash val="solid"/>
          </a:ln>
        </p:spPr>
      </p:sp>
      <p:sp>
        <p:nvSpPr>
          <p:cNvPr id="5" name="Shape 3"/>
          <p:cNvSpPr/>
          <p:nvPr/>
        </p:nvSpPr>
        <p:spPr>
          <a:xfrm>
            <a:off x="886968" y="2139696"/>
            <a:ext cx="420624" cy="420624"/>
          </a:xfrm>
          <a:prstGeom prst="ellipse">
            <a:avLst/>
          </a:prstGeom>
          <a:solidFill>
            <a:srgbClr val="2F6FB2"/>
          </a:solidFill>
          <a:ln w="12700">
            <a:solidFill>
              <a:srgbClr val="2F6FB2"/>
            </a:solidFill>
            <a:prstDash val="solid"/>
          </a:ln>
        </p:spPr>
      </p:sp>
      <p:sp>
        <p:nvSpPr>
          <p:cNvPr id="6" name="Text 4"/>
          <p:cNvSpPr txBox="1"/>
          <p:nvPr/>
        </p:nvSpPr>
        <p:spPr>
          <a:xfrm>
            <a:off x="886968" y="213969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527048" y="2002536"/>
            <a:ext cx="3566160" cy="704088"/>
          </a:xfrm>
          <a:prstGeom prst="rect">
            <a:avLst/>
          </a:prstGeom>
          <a:noFill/>
          <a:ln/>
        </p:spPr>
        <p:txBody>
          <a:bodyPr wrap="square" lIns="0" tIns="0" rIns="0" bIns="0" rtlCol="0" anchor="ctr"/>
          <a:lstStyle/>
          <a:p>
            <a:pPr indent="0" marL="0">
              <a:buNone/>
            </a:pPr>
            <a:r>
              <a:rPr lang="en-US" sz="1600" b="1" dirty="0">
                <a:solidFill>
                  <a:srgbClr val="1F2A33"/>
                </a:solidFill>
                <a:latin typeface="Calibri" pitchFamily="34" charset="0"/>
                <a:ea typeface="Calibri" pitchFamily="34" charset="-122"/>
                <a:cs typeface="Calibri" pitchFamily="34" charset="-120"/>
              </a:rPr>
              <a:t>Den ser hela pulsföljden</a:t>
            </a:r>
            <a:endParaRPr lang="en-US" sz="1600" dirty="0"/>
          </a:p>
        </p:txBody>
      </p:sp>
      <p:sp>
        <p:nvSpPr>
          <p:cNvPr id="8" name="Text 6"/>
          <p:cNvSpPr txBox="1"/>
          <p:nvPr/>
        </p:nvSpPr>
        <p:spPr>
          <a:xfrm>
            <a:off x="5138928" y="2002536"/>
            <a:ext cx="6025896" cy="704088"/>
          </a:xfrm>
          <a:prstGeom prst="rect">
            <a:avLst/>
          </a:prstGeom>
          <a:noFill/>
          <a:ln/>
        </p:spPr>
        <p:txBody>
          <a:bodyPr wrap="square" lIns="0" tIns="0" rIns="0" bIns="0" rtlCol="0" anchor="ctr"/>
          <a:lstStyle/>
          <a:p>
            <a:pPr indent="0" marL="0">
              <a:buNone/>
            </a:pPr>
            <a:r>
              <a:rPr lang="en-US" sz="1400" dirty="0">
                <a:solidFill>
                  <a:srgbClr val="5A6B78"/>
                </a:solidFill>
                <a:latin typeface="Calibri" pitchFamily="34" charset="0"/>
                <a:ea typeface="Calibri" pitchFamily="34" charset="-122"/>
                <a:cs typeface="Calibri" pitchFamily="34" charset="-120"/>
              </a:rPr>
              <a:t>och får facit förskjutet ett steg som ledtråd — den ska gissa nästa tecken givet de föregående</a:t>
            </a:r>
            <a:endParaRPr lang="en-US" sz="1400" dirty="0"/>
          </a:p>
        </p:txBody>
      </p:sp>
      <p:sp>
        <p:nvSpPr>
          <p:cNvPr id="9" name="Shape 7"/>
          <p:cNvSpPr/>
          <p:nvPr/>
        </p:nvSpPr>
        <p:spPr>
          <a:xfrm>
            <a:off x="566928" y="2935224"/>
            <a:ext cx="11055096" cy="960120"/>
          </a:xfrm>
          <a:prstGeom prst="roundRect">
            <a:avLst>
              <a:gd name="adj" fmla="val 8571"/>
            </a:avLst>
          </a:prstGeom>
          <a:solidFill>
            <a:srgbClr val="FFFFFF"/>
          </a:solidFill>
          <a:ln w="12700">
            <a:solidFill>
              <a:srgbClr val="FFFFFF"/>
            </a:solidFill>
            <a:prstDash val="solid"/>
          </a:ln>
        </p:spPr>
      </p:sp>
      <p:sp>
        <p:nvSpPr>
          <p:cNvPr id="10" name="Shape 8"/>
          <p:cNvSpPr/>
          <p:nvPr/>
        </p:nvSpPr>
        <p:spPr>
          <a:xfrm>
            <a:off x="886968" y="3200400"/>
            <a:ext cx="420624" cy="420624"/>
          </a:xfrm>
          <a:prstGeom prst="ellipse">
            <a:avLst/>
          </a:prstGeom>
          <a:solidFill>
            <a:srgbClr val="E08A2E"/>
          </a:solidFill>
          <a:ln w="12700">
            <a:solidFill>
              <a:srgbClr val="E08A2E"/>
            </a:solidFill>
            <a:prstDash val="solid"/>
          </a:ln>
        </p:spPr>
      </p:sp>
      <p:sp>
        <p:nvSpPr>
          <p:cNvPr id="11" name="Text 9"/>
          <p:cNvSpPr txBox="1"/>
          <p:nvPr/>
        </p:nvSpPr>
        <p:spPr>
          <a:xfrm>
            <a:off x="886968" y="32004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1527048" y="3063240"/>
            <a:ext cx="3566160" cy="704088"/>
          </a:xfrm>
          <a:prstGeom prst="rect">
            <a:avLst/>
          </a:prstGeom>
          <a:noFill/>
          <a:ln/>
        </p:spPr>
        <p:txBody>
          <a:bodyPr wrap="square" lIns="0" tIns="0" rIns="0" bIns="0" rtlCol="0" anchor="ctr"/>
          <a:lstStyle/>
          <a:p>
            <a:pPr indent="0" marL="0">
              <a:buNone/>
            </a:pPr>
            <a:r>
              <a:rPr lang="en-US" sz="1600" b="1" dirty="0">
                <a:solidFill>
                  <a:srgbClr val="1F2A33"/>
                </a:solidFill>
                <a:latin typeface="Calibri" pitchFamily="34" charset="0"/>
                <a:ea typeface="Calibri" pitchFamily="34" charset="-122"/>
                <a:cs typeface="Calibri" pitchFamily="34" charset="-120"/>
              </a:rPr>
              <a:t>Den får inte tjuvkika</a:t>
            </a:r>
            <a:endParaRPr lang="en-US" sz="1600" dirty="0"/>
          </a:p>
        </p:txBody>
      </p:sp>
      <p:sp>
        <p:nvSpPr>
          <p:cNvPr id="13" name="Text 11"/>
          <p:cNvSpPr txBox="1"/>
          <p:nvPr/>
        </p:nvSpPr>
        <p:spPr>
          <a:xfrm>
            <a:off x="5138928" y="3063240"/>
            <a:ext cx="6025896" cy="704088"/>
          </a:xfrm>
          <a:prstGeom prst="rect">
            <a:avLst/>
          </a:prstGeom>
          <a:noFill/>
          <a:ln/>
        </p:spPr>
        <p:txBody>
          <a:bodyPr wrap="square" lIns="0" tIns="0" rIns="0" bIns="0" rtlCol="0" anchor="ctr"/>
          <a:lstStyle/>
          <a:p>
            <a:pPr indent="0" marL="0">
              <a:buNone/>
            </a:pPr>
            <a:r>
              <a:rPr lang="en-US" sz="1400" dirty="0">
                <a:solidFill>
                  <a:srgbClr val="5A6B78"/>
                </a:solidFill>
                <a:latin typeface="Calibri" pitchFamily="34" charset="0"/>
                <a:ea typeface="Calibri" pitchFamily="34" charset="-122"/>
                <a:cs typeface="Calibri" pitchFamily="34" charset="-120"/>
              </a:rPr>
              <a:t>en spärr hindrar varje position från att se framåt i facit, så alla positioner kan räknas samtidigt</a:t>
            </a:r>
            <a:endParaRPr lang="en-US" sz="1400" dirty="0"/>
          </a:p>
        </p:txBody>
      </p:sp>
      <p:sp>
        <p:nvSpPr>
          <p:cNvPr id="14" name="Shape 12"/>
          <p:cNvSpPr/>
          <p:nvPr/>
        </p:nvSpPr>
        <p:spPr>
          <a:xfrm>
            <a:off x="566928" y="3995928"/>
            <a:ext cx="11055096" cy="960120"/>
          </a:xfrm>
          <a:prstGeom prst="roundRect">
            <a:avLst>
              <a:gd name="adj" fmla="val 8571"/>
            </a:avLst>
          </a:prstGeom>
          <a:solidFill>
            <a:srgbClr val="FFFFFF"/>
          </a:solidFill>
          <a:ln w="12700">
            <a:solidFill>
              <a:srgbClr val="FFFFFF"/>
            </a:solidFill>
            <a:prstDash val="solid"/>
          </a:ln>
        </p:spPr>
      </p:sp>
      <p:sp>
        <p:nvSpPr>
          <p:cNvPr id="15" name="Shape 13"/>
          <p:cNvSpPr/>
          <p:nvPr/>
        </p:nvSpPr>
        <p:spPr>
          <a:xfrm>
            <a:off x="886968" y="4261104"/>
            <a:ext cx="420624" cy="420624"/>
          </a:xfrm>
          <a:prstGeom prst="ellipse">
            <a:avLst/>
          </a:prstGeom>
          <a:solidFill>
            <a:srgbClr val="3F8F5E"/>
          </a:solidFill>
          <a:ln w="12700">
            <a:solidFill>
              <a:srgbClr val="3F8F5E"/>
            </a:solidFill>
            <a:prstDash val="solid"/>
          </a:ln>
        </p:spPr>
      </p:sp>
      <p:sp>
        <p:nvSpPr>
          <p:cNvPr id="16" name="Text 14"/>
          <p:cNvSpPr txBox="1"/>
          <p:nvPr/>
        </p:nvSpPr>
        <p:spPr>
          <a:xfrm>
            <a:off x="886968" y="426110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1527048" y="4123944"/>
            <a:ext cx="3566160" cy="704088"/>
          </a:xfrm>
          <a:prstGeom prst="rect">
            <a:avLst/>
          </a:prstGeom>
          <a:noFill/>
          <a:ln/>
        </p:spPr>
        <p:txBody>
          <a:bodyPr wrap="square" lIns="0" tIns="0" rIns="0" bIns="0" rtlCol="0" anchor="ctr"/>
          <a:lstStyle/>
          <a:p>
            <a:pPr indent="0" marL="0">
              <a:buNone/>
            </a:pPr>
            <a:r>
              <a:rPr lang="en-US" sz="1600" b="1" dirty="0">
                <a:solidFill>
                  <a:srgbClr val="1F2A33"/>
                </a:solidFill>
                <a:latin typeface="Calibri" pitchFamily="34" charset="0"/>
                <a:ea typeface="Calibri" pitchFamily="34" charset="-122"/>
                <a:cs typeface="Calibri" pitchFamily="34" charset="-120"/>
              </a:rPr>
              <a:t>Felet mäts tecken för tecken</a:t>
            </a:r>
            <a:endParaRPr lang="en-US" sz="1600" dirty="0"/>
          </a:p>
        </p:txBody>
      </p:sp>
      <p:sp>
        <p:nvSpPr>
          <p:cNvPr id="18" name="Text 16"/>
          <p:cNvSpPr txBox="1"/>
          <p:nvPr/>
        </p:nvSpPr>
        <p:spPr>
          <a:xfrm>
            <a:off x="5138928" y="4123944"/>
            <a:ext cx="6025896" cy="704088"/>
          </a:xfrm>
          <a:prstGeom prst="rect">
            <a:avLst/>
          </a:prstGeom>
          <a:noFill/>
          <a:ln/>
        </p:spPr>
        <p:txBody>
          <a:bodyPr wrap="square" lIns="0" tIns="0" rIns="0" bIns="0" rtlCol="0" anchor="ctr"/>
          <a:lstStyle/>
          <a:p>
            <a:pPr indent="0" marL="0">
              <a:buNone/>
            </a:pPr>
            <a:r>
              <a:rPr lang="en-US" sz="1400" dirty="0">
                <a:solidFill>
                  <a:srgbClr val="5A6B78"/>
                </a:solidFill>
                <a:latin typeface="Calibri" pitchFamily="34" charset="0"/>
                <a:ea typeface="Calibri" pitchFamily="34" charset="-122"/>
                <a:cs typeface="Calibri" pitchFamily="34" charset="-120"/>
              </a:rPr>
              <a:t>ett PRI-värde nära det rätta räknas som nästan rätt, inte som lika fel som ett helt annat värde</a:t>
            </a:r>
            <a:endParaRPr lang="en-US" sz="1400" dirty="0"/>
          </a:p>
        </p:txBody>
      </p:sp>
      <p:sp>
        <p:nvSpPr>
          <p:cNvPr id="19" name="Shape 17"/>
          <p:cNvSpPr/>
          <p:nvPr/>
        </p:nvSpPr>
        <p:spPr>
          <a:xfrm>
            <a:off x="566928" y="5056632"/>
            <a:ext cx="11055096" cy="960120"/>
          </a:xfrm>
          <a:prstGeom prst="roundRect">
            <a:avLst>
              <a:gd name="adj" fmla="val 8571"/>
            </a:avLst>
          </a:prstGeom>
          <a:solidFill>
            <a:srgbClr val="FFFFFF"/>
          </a:solidFill>
          <a:ln w="12700">
            <a:solidFill>
              <a:srgbClr val="FFFFFF"/>
            </a:solidFill>
            <a:prstDash val="solid"/>
          </a:ln>
        </p:spPr>
      </p:sp>
      <p:sp>
        <p:nvSpPr>
          <p:cNvPr id="20" name="Shape 18"/>
          <p:cNvSpPr/>
          <p:nvPr/>
        </p:nvSpPr>
        <p:spPr>
          <a:xfrm>
            <a:off x="886968" y="5321808"/>
            <a:ext cx="420624" cy="420624"/>
          </a:xfrm>
          <a:prstGeom prst="ellipse">
            <a:avLst/>
          </a:prstGeom>
          <a:solidFill>
            <a:srgbClr val="C0392B"/>
          </a:solidFill>
          <a:ln w="12700">
            <a:solidFill>
              <a:srgbClr val="C0392B"/>
            </a:solidFill>
            <a:prstDash val="solid"/>
          </a:ln>
        </p:spPr>
      </p:sp>
      <p:sp>
        <p:nvSpPr>
          <p:cNvPr id="21" name="Text 19"/>
          <p:cNvSpPr txBox="1"/>
          <p:nvPr/>
        </p:nvSpPr>
        <p:spPr>
          <a:xfrm>
            <a:off x="886968" y="532180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txBox="1"/>
          <p:nvPr/>
        </p:nvSpPr>
        <p:spPr>
          <a:xfrm>
            <a:off x="1527048" y="5184648"/>
            <a:ext cx="3566160" cy="704088"/>
          </a:xfrm>
          <a:prstGeom prst="rect">
            <a:avLst/>
          </a:prstGeom>
          <a:noFill/>
          <a:ln/>
        </p:spPr>
        <p:txBody>
          <a:bodyPr wrap="square" lIns="0" tIns="0" rIns="0" bIns="0" rtlCol="0" anchor="ctr"/>
          <a:lstStyle/>
          <a:p>
            <a:pPr indent="0" marL="0">
              <a:buNone/>
            </a:pPr>
            <a:r>
              <a:rPr lang="en-US" sz="1600" b="1" dirty="0">
                <a:solidFill>
                  <a:srgbClr val="1F2A33"/>
                </a:solidFill>
                <a:latin typeface="Calibri" pitchFamily="34" charset="0"/>
                <a:ea typeface="Calibri" pitchFamily="34" charset="-122"/>
                <a:cs typeface="Calibri" pitchFamily="34" charset="-120"/>
              </a:rPr>
              <a:t>Vid mätning får den inget facit</a:t>
            </a:r>
            <a:endParaRPr lang="en-US" sz="1600" dirty="0"/>
          </a:p>
        </p:txBody>
      </p:sp>
      <p:sp>
        <p:nvSpPr>
          <p:cNvPr id="23" name="Text 21"/>
          <p:cNvSpPr txBox="1"/>
          <p:nvPr/>
        </p:nvSpPr>
        <p:spPr>
          <a:xfrm>
            <a:off x="5138928" y="5184648"/>
            <a:ext cx="6025896" cy="704088"/>
          </a:xfrm>
          <a:prstGeom prst="rect">
            <a:avLst/>
          </a:prstGeom>
          <a:noFill/>
          <a:ln/>
        </p:spPr>
        <p:txBody>
          <a:bodyPr wrap="square" lIns="0" tIns="0" rIns="0" bIns="0" rtlCol="0" anchor="ctr"/>
          <a:lstStyle/>
          <a:p>
            <a:pPr indent="0" marL="0">
              <a:buNone/>
            </a:pPr>
            <a:r>
              <a:rPr lang="en-US" sz="1400" dirty="0">
                <a:solidFill>
                  <a:srgbClr val="5A6B78"/>
                </a:solidFill>
                <a:latin typeface="Calibri" pitchFamily="34" charset="0"/>
                <a:ea typeface="Calibri" pitchFamily="34" charset="-122"/>
                <a:cs typeface="Calibri" pitchFamily="34" charset="-120"/>
              </a:rPr>
              <a:t>då skriver den hela beskrivningen själv, och det är den siffran som räknas</a:t>
            </a:r>
            <a:endParaRPr lang="en-US" sz="1400" dirty="0"/>
          </a:p>
        </p:txBody>
      </p:sp>
      <p:sp>
        <p:nvSpPr>
          <p:cNvPr id="24" name="Text 22"/>
          <p:cNvSpPr txBox="1"/>
          <p:nvPr/>
        </p:nvSpPr>
        <p:spPr>
          <a:xfrm>
            <a:off x="566928" y="6053328"/>
            <a:ext cx="11055096" cy="347472"/>
          </a:xfrm>
          <a:prstGeom prst="rect">
            <a:avLst/>
          </a:prstGeom>
          <a:noFill/>
          <a:ln/>
        </p:spPr>
        <p:txBody>
          <a:bodyPr wrap="square" lIns="0" tIns="0" rIns="0" bIns="0" rtlCol="0" anchor="ctr"/>
          <a:lstStyle/>
          <a:p>
            <a:pPr indent="0" marL="0">
              <a:buNone/>
            </a:pPr>
            <a:r>
              <a:rPr lang="en-US" sz="1200" i="1" dirty="0">
                <a:solidFill>
                  <a:srgbClr val="5A6B78"/>
                </a:solidFill>
                <a:latin typeface="Calibri" pitchFamily="34" charset="0"/>
                <a:ea typeface="Calibri" pitchFamily="34" charset="-122"/>
                <a:cs typeface="Calibri" pitchFamily="34" charset="-120"/>
              </a:rPr>
              <a:t>Rad 1 mot rad 4 är själva poängen: under träningen får den alltid ett korrekt facit att bygga vidare på, vid mätning bara sitt eget.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4394B"/>
        </a:solidFill>
      </p:bgPr>
    </p:bg>
    <p:spTree>
      <p:nvGrpSpPr>
        <p:cNvPr id="1" name=""/>
        <p:cNvGrpSpPr/>
        <p:nvPr/>
      </p:nvGrpSpPr>
      <p:grpSpPr>
        <a:xfrm>
          <a:off x="0" y="0"/>
          <a:ext cx="0" cy="0"/>
          <a:chOff x="0" y="0"/>
          <a:chExt cx="0" cy="0"/>
        </a:xfrm>
      </p:grpSpPr>
      <p:sp>
        <p:nvSpPr>
          <p:cNvPr id="2" name="Text 0"/>
          <p:cNvSpPr txBox="1"/>
          <p:nvPr/>
        </p:nvSpPr>
        <p:spPr>
          <a:xfrm>
            <a:off x="566928" y="685800"/>
            <a:ext cx="11055096"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En emitter måste ha exakt en giltig beskrivning</a:t>
            </a:r>
            <a:endParaRPr lang="en-US" sz="3400" dirty="0"/>
          </a:p>
        </p:txBody>
      </p:sp>
      <p:sp>
        <p:nvSpPr>
          <p:cNvPr id="3" name="Text 1"/>
          <p:cNvSpPr txBox="1"/>
          <p:nvPr/>
        </p:nvSpPr>
        <p:spPr>
          <a:xfrm>
            <a:off x="566928" y="1463040"/>
            <a:ext cx="11055096" cy="411480"/>
          </a:xfrm>
          <a:prstGeom prst="rect">
            <a:avLst/>
          </a:prstGeom>
          <a:noFill/>
          <a:ln/>
        </p:spPr>
        <p:txBody>
          <a:bodyPr wrap="square" lIns="0" tIns="0" rIns="0" bIns="0" rtlCol="0" anchor="ctr"/>
          <a:lstStyle/>
          <a:p>
            <a:pPr indent="0" marL="0">
              <a:buNone/>
            </a:pPr>
            <a:r>
              <a:rPr lang="en-US" sz="1600" dirty="0">
                <a:solidFill>
                  <a:srgbClr val="E08A2E"/>
                </a:solidFill>
                <a:latin typeface="Calibri" pitchFamily="34" charset="0"/>
                <a:ea typeface="Calibri" pitchFamily="34" charset="-122"/>
                <a:cs typeface="Calibri" pitchFamily="34" charset="-120"/>
              </a:rPr>
              <a:t>Annars straffas modellen för svar som är korrekta</a:t>
            </a:r>
            <a:endParaRPr lang="en-US" sz="1600" dirty="0"/>
          </a:p>
        </p:txBody>
      </p:sp>
      <p:sp>
        <p:nvSpPr>
          <p:cNvPr id="4" name="Shape 2"/>
          <p:cNvSpPr/>
          <p:nvPr/>
        </p:nvSpPr>
        <p:spPr>
          <a:xfrm>
            <a:off x="566928" y="2395728"/>
            <a:ext cx="5344668" cy="1298448"/>
          </a:xfrm>
          <a:prstGeom prst="roundRect">
            <a:avLst>
              <a:gd name="adj" fmla="val 6338"/>
            </a:avLst>
          </a:prstGeom>
          <a:solidFill>
            <a:srgbClr val="2E4557"/>
          </a:solidFill>
          <a:ln w="12700">
            <a:solidFill>
              <a:srgbClr val="2E4557"/>
            </a:solidFill>
            <a:prstDash val="solid"/>
          </a:ln>
        </p:spPr>
      </p:sp>
      <p:sp>
        <p:nvSpPr>
          <p:cNvPr id="5" name="Text 3"/>
          <p:cNvSpPr txBox="1"/>
          <p:nvPr/>
        </p:nvSpPr>
        <p:spPr>
          <a:xfrm>
            <a:off x="932688" y="2615184"/>
            <a:ext cx="4613148" cy="365760"/>
          </a:xfrm>
          <a:prstGeom prst="rect">
            <a:avLst/>
          </a:prstGeom>
          <a:noFill/>
          <a:ln/>
        </p:spPr>
        <p:txBody>
          <a:bodyPr wrap="square" lIns="0" tIns="0" rIns="0" bIns="0" rtlCol="0" anchor="ctr"/>
          <a:lstStyle/>
          <a:p>
            <a:pPr indent="0" marL="0">
              <a:buNone/>
            </a:pPr>
            <a:r>
              <a:rPr lang="en-US" sz="1600" b="1" dirty="0">
                <a:solidFill>
                  <a:srgbClr val="E08A2E"/>
                </a:solidFill>
                <a:latin typeface="Calibri" pitchFamily="34" charset="0"/>
                <a:ea typeface="Calibri" pitchFamily="34" charset="-122"/>
                <a:cs typeface="Calibri" pitchFamily="34" charset="-120"/>
              </a:rPr>
              <a:t>Var startar cykeln?</a:t>
            </a:r>
            <a:endParaRPr lang="en-US" sz="1600" dirty="0"/>
          </a:p>
        </p:txBody>
      </p:sp>
      <p:sp>
        <p:nvSpPr>
          <p:cNvPr id="6" name="Text 4"/>
          <p:cNvSpPr txBox="1"/>
          <p:nvPr/>
        </p:nvSpPr>
        <p:spPr>
          <a:xfrm>
            <a:off x="932688" y="3035808"/>
            <a:ext cx="4613148" cy="822960"/>
          </a:xfrm>
          <a:prstGeom prst="rect">
            <a:avLst/>
          </a:prstGeom>
          <a:noFill/>
          <a:ln/>
        </p:spPr>
        <p:txBody>
          <a:bodyPr wrap="square" lIns="0" tIns="0" rIns="0" bIns="0" rtlCol="0" anchor="t"/>
          <a:lstStyle/>
          <a:p>
            <a:pPr indent="0" marL="0">
              <a:buNone/>
            </a:pPr>
            <a:r>
              <a:rPr lang="en-US" sz="1350" dirty="0">
                <a:solidFill>
                  <a:srgbClr val="C9D6E0"/>
                </a:solidFill>
                <a:latin typeface="Calibri" pitchFamily="34" charset="0"/>
                <a:ea typeface="Calibri" pitchFamily="34" charset="-122"/>
                <a:cs typeface="Calibri" pitchFamily="34" charset="-120"/>
              </a:rPr>
              <a:t>L0 L1 L2 och L1 L2 L0 är samma emitter — vi väljer alltid samma rotation</a:t>
            </a:r>
            <a:endParaRPr lang="en-US" sz="1350" dirty="0"/>
          </a:p>
        </p:txBody>
      </p:sp>
      <p:sp>
        <p:nvSpPr>
          <p:cNvPr id="7" name="Shape 5"/>
          <p:cNvSpPr/>
          <p:nvPr/>
        </p:nvSpPr>
        <p:spPr>
          <a:xfrm>
            <a:off x="6277356" y="2395728"/>
            <a:ext cx="5344668" cy="1298448"/>
          </a:xfrm>
          <a:prstGeom prst="roundRect">
            <a:avLst>
              <a:gd name="adj" fmla="val 6338"/>
            </a:avLst>
          </a:prstGeom>
          <a:solidFill>
            <a:srgbClr val="2E4557"/>
          </a:solidFill>
          <a:ln w="12700">
            <a:solidFill>
              <a:srgbClr val="2E4557"/>
            </a:solidFill>
            <a:prstDash val="solid"/>
          </a:ln>
        </p:spPr>
      </p:sp>
      <p:sp>
        <p:nvSpPr>
          <p:cNvPr id="8" name="Text 6"/>
          <p:cNvSpPr txBox="1"/>
          <p:nvPr/>
        </p:nvSpPr>
        <p:spPr>
          <a:xfrm>
            <a:off x="6643116" y="2615184"/>
            <a:ext cx="4613148" cy="365760"/>
          </a:xfrm>
          <a:prstGeom prst="rect">
            <a:avLst/>
          </a:prstGeom>
          <a:noFill/>
          <a:ln/>
        </p:spPr>
        <p:txBody>
          <a:bodyPr wrap="square" lIns="0" tIns="0" rIns="0" bIns="0" rtlCol="0" anchor="ctr"/>
          <a:lstStyle/>
          <a:p>
            <a:pPr indent="0" marL="0">
              <a:buNone/>
            </a:pPr>
            <a:r>
              <a:rPr lang="en-US" sz="1600" b="1" dirty="0">
                <a:solidFill>
                  <a:srgbClr val="E08A2E"/>
                </a:solidFill>
                <a:latin typeface="Calibri" pitchFamily="34" charset="0"/>
                <a:ea typeface="Calibri" pitchFamily="34" charset="-122"/>
                <a:cs typeface="Calibri" pitchFamily="34" charset="-120"/>
              </a:rPr>
              <a:t>Hur lång är den?</a:t>
            </a:r>
            <a:endParaRPr lang="en-US" sz="1600" dirty="0"/>
          </a:p>
        </p:txBody>
      </p:sp>
      <p:sp>
        <p:nvSpPr>
          <p:cNvPr id="9" name="Text 7"/>
          <p:cNvSpPr txBox="1"/>
          <p:nvPr/>
        </p:nvSpPr>
        <p:spPr>
          <a:xfrm>
            <a:off x="6643116" y="3035808"/>
            <a:ext cx="4613148" cy="822960"/>
          </a:xfrm>
          <a:prstGeom prst="rect">
            <a:avLst/>
          </a:prstGeom>
          <a:noFill/>
          <a:ln/>
        </p:spPr>
        <p:txBody>
          <a:bodyPr wrap="square" lIns="0" tIns="0" rIns="0" bIns="0" rtlCol="0" anchor="t"/>
          <a:lstStyle/>
          <a:p>
            <a:pPr indent="0" marL="0">
              <a:buNone/>
            </a:pPr>
            <a:r>
              <a:rPr lang="en-US" sz="1350" dirty="0">
                <a:solidFill>
                  <a:srgbClr val="C9D6E0"/>
                </a:solidFill>
                <a:latin typeface="Calibri" pitchFamily="34" charset="0"/>
                <a:ea typeface="Calibri" pitchFamily="34" charset="-122"/>
                <a:cs typeface="Calibri" pitchFamily="34" charset="-120"/>
              </a:rPr>
              <a:t>L0 L1 L0 L1 kortas till L0 L1 — den minsta upprepande enheten</a:t>
            </a:r>
            <a:endParaRPr lang="en-US" sz="1350" dirty="0"/>
          </a:p>
        </p:txBody>
      </p:sp>
      <p:sp>
        <p:nvSpPr>
          <p:cNvPr id="10" name="Shape 8"/>
          <p:cNvSpPr/>
          <p:nvPr/>
        </p:nvSpPr>
        <p:spPr>
          <a:xfrm>
            <a:off x="566928" y="3968496"/>
            <a:ext cx="5344668" cy="1298448"/>
          </a:xfrm>
          <a:prstGeom prst="roundRect">
            <a:avLst>
              <a:gd name="adj" fmla="val 6338"/>
            </a:avLst>
          </a:prstGeom>
          <a:solidFill>
            <a:srgbClr val="2E4557"/>
          </a:solidFill>
          <a:ln w="12700">
            <a:solidFill>
              <a:srgbClr val="2E4557"/>
            </a:solidFill>
            <a:prstDash val="solid"/>
          </a:ln>
        </p:spPr>
      </p:sp>
      <p:sp>
        <p:nvSpPr>
          <p:cNvPr id="11" name="Text 9"/>
          <p:cNvSpPr txBox="1"/>
          <p:nvPr/>
        </p:nvSpPr>
        <p:spPr>
          <a:xfrm>
            <a:off x="932688" y="4187952"/>
            <a:ext cx="4613148" cy="365760"/>
          </a:xfrm>
          <a:prstGeom prst="rect">
            <a:avLst/>
          </a:prstGeom>
          <a:noFill/>
          <a:ln/>
        </p:spPr>
        <p:txBody>
          <a:bodyPr wrap="square" lIns="0" tIns="0" rIns="0" bIns="0" rtlCol="0" anchor="ctr"/>
          <a:lstStyle/>
          <a:p>
            <a:pPr indent="0" marL="0">
              <a:buNone/>
            </a:pPr>
            <a:r>
              <a:rPr lang="en-US" sz="1600" b="1" dirty="0">
                <a:solidFill>
                  <a:srgbClr val="E08A2E"/>
                </a:solidFill>
                <a:latin typeface="Calibri" pitchFamily="34" charset="0"/>
                <a:ea typeface="Calibri" pitchFamily="34" charset="-122"/>
                <a:cs typeface="Calibri" pitchFamily="34" charset="-120"/>
              </a:rPr>
              <a:t>Ett intervall utan bredd</a:t>
            </a:r>
            <a:endParaRPr lang="en-US" sz="1600" dirty="0"/>
          </a:p>
        </p:txBody>
      </p:sp>
      <p:sp>
        <p:nvSpPr>
          <p:cNvPr id="12" name="Text 10"/>
          <p:cNvSpPr txBox="1"/>
          <p:nvPr/>
        </p:nvSpPr>
        <p:spPr>
          <a:xfrm>
            <a:off x="932688" y="4608576"/>
            <a:ext cx="4613148" cy="822960"/>
          </a:xfrm>
          <a:prstGeom prst="rect">
            <a:avLst/>
          </a:prstGeom>
          <a:noFill/>
          <a:ln/>
        </p:spPr>
        <p:txBody>
          <a:bodyPr wrap="square" lIns="0" tIns="0" rIns="0" bIns="0" rtlCol="0" anchor="t"/>
          <a:lstStyle/>
          <a:p>
            <a:pPr indent="0" marL="0">
              <a:buNone/>
            </a:pPr>
            <a:r>
              <a:rPr lang="en-US" sz="1350" dirty="0">
                <a:solidFill>
                  <a:srgbClr val="C9D6E0"/>
                </a:solidFill>
                <a:latin typeface="Calibri" pitchFamily="34" charset="0"/>
                <a:ea typeface="Calibri" pitchFamily="34" charset="-122"/>
                <a:cs typeface="Calibri" pitchFamily="34" charset="-120"/>
              </a:rPr>
              <a:t>”mellan 5 och 5 pulser” skrivs om till ”5 pulser”</a:t>
            </a:r>
            <a:endParaRPr lang="en-US" sz="1350" dirty="0"/>
          </a:p>
        </p:txBody>
      </p:sp>
      <p:sp>
        <p:nvSpPr>
          <p:cNvPr id="13" name="Shape 11"/>
          <p:cNvSpPr/>
          <p:nvPr/>
        </p:nvSpPr>
        <p:spPr>
          <a:xfrm>
            <a:off x="6277356" y="3968496"/>
            <a:ext cx="5344668" cy="1298448"/>
          </a:xfrm>
          <a:prstGeom prst="roundRect">
            <a:avLst>
              <a:gd name="adj" fmla="val 6338"/>
            </a:avLst>
          </a:prstGeom>
          <a:solidFill>
            <a:srgbClr val="2E4557"/>
          </a:solidFill>
          <a:ln w="12700">
            <a:solidFill>
              <a:srgbClr val="2E4557"/>
            </a:solidFill>
            <a:prstDash val="solid"/>
          </a:ln>
        </p:spPr>
      </p:sp>
      <p:sp>
        <p:nvSpPr>
          <p:cNvPr id="14" name="Text 12"/>
          <p:cNvSpPr txBox="1"/>
          <p:nvPr/>
        </p:nvSpPr>
        <p:spPr>
          <a:xfrm>
            <a:off x="6643116" y="4187952"/>
            <a:ext cx="4613148" cy="365760"/>
          </a:xfrm>
          <a:prstGeom prst="rect">
            <a:avLst/>
          </a:prstGeom>
          <a:noFill/>
          <a:ln/>
        </p:spPr>
        <p:txBody>
          <a:bodyPr wrap="square" lIns="0" tIns="0" rIns="0" bIns="0" rtlCol="0" anchor="ctr"/>
          <a:lstStyle/>
          <a:p>
            <a:pPr indent="0" marL="0">
              <a:buNone/>
            </a:pPr>
            <a:r>
              <a:rPr lang="en-US" sz="1600" b="1" dirty="0">
                <a:solidFill>
                  <a:srgbClr val="E08A2E"/>
                </a:solidFill>
                <a:latin typeface="Calibri" pitchFamily="34" charset="0"/>
                <a:ea typeface="Calibri" pitchFamily="34" charset="-122"/>
                <a:cs typeface="Calibri" pitchFamily="34" charset="-120"/>
              </a:rPr>
              <a:t>Två nivåer</a:t>
            </a:r>
            <a:endParaRPr lang="en-US" sz="1600" dirty="0"/>
          </a:p>
        </p:txBody>
      </p:sp>
      <p:sp>
        <p:nvSpPr>
          <p:cNvPr id="15" name="Text 13"/>
          <p:cNvSpPr txBox="1"/>
          <p:nvPr/>
        </p:nvSpPr>
        <p:spPr>
          <a:xfrm>
            <a:off x="6643116" y="4608576"/>
            <a:ext cx="4613148" cy="822960"/>
          </a:xfrm>
          <a:prstGeom prst="rect">
            <a:avLst/>
          </a:prstGeom>
          <a:noFill/>
          <a:ln/>
        </p:spPr>
        <p:txBody>
          <a:bodyPr wrap="square" lIns="0" tIns="0" rIns="0" bIns="0" rtlCol="0" anchor="t"/>
          <a:lstStyle/>
          <a:p>
            <a:pPr indent="0" marL="0">
              <a:buNone/>
            </a:pPr>
            <a:r>
              <a:rPr lang="en-US" sz="1350" dirty="0">
                <a:solidFill>
                  <a:srgbClr val="C9D6E0"/>
                </a:solidFill>
                <a:latin typeface="Calibri" pitchFamily="34" charset="0"/>
                <a:ea typeface="Calibri" pitchFamily="34" charset="-122"/>
                <a:cs typeface="Calibri" pitchFamily="34" charset="-120"/>
              </a:rPr>
              <a:t>Med bara två nivåer växlar den alltid — ordningen är inte observerbar</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658368"/>
          </a:xfrm>
          <a:prstGeom prst="rect">
            <a:avLst/>
          </a:prstGeom>
          <a:noFill/>
          <a:ln/>
        </p:spPr>
        <p:txBody>
          <a:bodyPr wrap="square" lIns="0" tIns="0" rIns="0" bIns="0" rtlCol="0" anchor="ctr"/>
          <a:lstStyle/>
          <a:p>
            <a:pPr indent="0" marL="0">
              <a:buNone/>
            </a:pPr>
            <a:r>
              <a:rPr lang="en-US" sz="3400" b="1" dirty="0">
                <a:solidFill>
                  <a:srgbClr val="1F2A33"/>
                </a:solidFill>
                <a:latin typeface="Cambria" pitchFamily="34" charset="0"/>
                <a:ea typeface="Cambria" pitchFamily="34" charset="-122"/>
                <a:cs typeface="Cambria" pitchFamily="34" charset="-120"/>
              </a:rPr>
              <a:t>Vad ett fönster faktiskt kan avslöja</a:t>
            </a:r>
            <a:endParaRPr lang="en-US" sz="3400" dirty="0"/>
          </a:p>
        </p:txBody>
      </p:sp>
      <p:sp>
        <p:nvSpPr>
          <p:cNvPr id="3" name="Text 1"/>
          <p:cNvSpPr txBox="1"/>
          <p:nvPr/>
        </p:nvSpPr>
        <p:spPr>
          <a:xfrm>
            <a:off x="566928" y="1060704"/>
            <a:ext cx="11055096" cy="384048"/>
          </a:xfrm>
          <a:prstGeom prst="rect">
            <a:avLst/>
          </a:prstGeom>
          <a:noFill/>
          <a:ln/>
        </p:spPr>
        <p:txBody>
          <a:bodyPr wrap="square" lIns="0" tIns="0" rIns="0" bIns="0" rtlCol="0" anchor="ctr"/>
          <a:lstStyle/>
          <a:p>
            <a:pPr indent="0" marL="0">
              <a:buNone/>
            </a:pPr>
            <a:r>
              <a:rPr lang="en-US" sz="1500" dirty="0">
                <a:solidFill>
                  <a:srgbClr val="5A6B78"/>
                </a:solidFill>
                <a:latin typeface="Calibri" pitchFamily="34" charset="0"/>
                <a:ea typeface="Calibri" pitchFamily="34" charset="-122"/>
                <a:cs typeface="Calibri" pitchFamily="34" charset="-120"/>
              </a:rPr>
              <a:t>Vi mäter taket innan vi bedömer modellen</a:t>
            </a:r>
            <a:endParaRPr lang="en-US" sz="1500" dirty="0"/>
          </a:p>
        </p:txBody>
      </p:sp>
      <p:sp>
        <p:nvSpPr>
          <p:cNvPr id="4" name="Shape 2"/>
          <p:cNvSpPr/>
          <p:nvPr/>
        </p:nvSpPr>
        <p:spPr>
          <a:xfrm>
            <a:off x="566928" y="1965960"/>
            <a:ext cx="3550920" cy="3246120"/>
          </a:xfrm>
          <a:prstGeom prst="roundRect">
            <a:avLst>
              <a:gd name="adj" fmla="val 2535"/>
            </a:avLst>
          </a:prstGeom>
          <a:solidFill>
            <a:srgbClr val="F4F6F8"/>
          </a:solidFill>
          <a:ln w="12700">
            <a:solidFill>
              <a:srgbClr val="F4F6F8"/>
            </a:solidFill>
            <a:prstDash val="solid"/>
          </a:ln>
        </p:spPr>
      </p:sp>
      <p:sp>
        <p:nvSpPr>
          <p:cNvPr id="5" name="Shape 3"/>
          <p:cNvSpPr/>
          <p:nvPr/>
        </p:nvSpPr>
        <p:spPr>
          <a:xfrm>
            <a:off x="978408" y="2377440"/>
            <a:ext cx="548640" cy="548640"/>
          </a:xfrm>
          <a:prstGeom prst="ellipse">
            <a:avLst/>
          </a:prstGeom>
          <a:solidFill>
            <a:srgbClr val="3F8F5E"/>
          </a:solidFill>
          <a:ln w="12700">
            <a:solidFill>
              <a:srgbClr val="3F8F5E"/>
            </a:solidFill>
            <a:prstDash val="solid"/>
          </a:ln>
        </p:spPr>
      </p:sp>
      <p:sp>
        <p:nvSpPr>
          <p:cNvPr id="6" name="Text 4"/>
          <p:cNvSpPr txBox="1"/>
          <p:nvPr/>
        </p:nvSpPr>
        <p:spPr>
          <a:xfrm>
            <a:off x="978408" y="3154680"/>
            <a:ext cx="2727960" cy="411480"/>
          </a:xfrm>
          <a:prstGeom prst="rect">
            <a:avLst/>
          </a:prstGeom>
          <a:noFill/>
          <a:ln/>
        </p:spPr>
        <p:txBody>
          <a:bodyPr wrap="square" lIns="0" tIns="0" rIns="0" bIns="0" rtlCol="0" anchor="ctr"/>
          <a:lstStyle/>
          <a:p>
            <a:pPr indent="0" marL="0">
              <a:buNone/>
            </a:pPr>
            <a:r>
              <a:rPr lang="en-US" sz="1900" b="1" dirty="0">
                <a:solidFill>
                  <a:srgbClr val="1F2A33"/>
                </a:solidFill>
                <a:latin typeface="Cambria" pitchFamily="34" charset="0"/>
                <a:ea typeface="Cambria" pitchFamily="34" charset="-122"/>
                <a:cs typeface="Cambria" pitchFamily="34" charset="-120"/>
              </a:rPr>
              <a:t>Alltid</a:t>
            </a:r>
            <a:endParaRPr lang="en-US" sz="1900" dirty="0"/>
          </a:p>
        </p:txBody>
      </p:sp>
      <p:sp>
        <p:nvSpPr>
          <p:cNvPr id="7" name="Text 5"/>
          <p:cNvSpPr txBox="1"/>
          <p:nvPr/>
        </p:nvSpPr>
        <p:spPr>
          <a:xfrm>
            <a:off x="978408" y="3675888"/>
            <a:ext cx="2727960" cy="1371600"/>
          </a:xfrm>
          <a:prstGeom prst="rect">
            <a:avLst/>
          </a:prstGeom>
          <a:noFill/>
          <a:ln/>
        </p:spPr>
        <p:txBody>
          <a:bodyPr wrap="square" lIns="0" tIns="0" rIns="0" bIns="0" rtlCol="0" anchor="t"/>
          <a:lstStyle/>
          <a:p>
            <a:pPr indent="0" marL="0">
              <a:buNone/>
            </a:pPr>
            <a:r>
              <a:rPr lang="en-US" sz="1400" dirty="0">
                <a:solidFill>
                  <a:srgbClr val="5A6B78"/>
                </a:solidFill>
                <a:latin typeface="Calibri" pitchFamily="34" charset="0"/>
                <a:ea typeface="Calibri" pitchFamily="34" charset="-122"/>
                <a:cs typeface="Calibri" pitchFamily="34" charset="-120"/>
              </a:rPr>
              <a:t>Vilka nivåer som finns. Även med en femtedel av pulserna tappade hittas de.</a:t>
            </a:r>
            <a:endParaRPr lang="en-US" sz="1400" dirty="0"/>
          </a:p>
        </p:txBody>
      </p:sp>
      <p:sp>
        <p:nvSpPr>
          <p:cNvPr id="8" name="Shape 6"/>
          <p:cNvSpPr/>
          <p:nvPr/>
        </p:nvSpPr>
        <p:spPr>
          <a:xfrm>
            <a:off x="4319016" y="1965960"/>
            <a:ext cx="3550920" cy="3246120"/>
          </a:xfrm>
          <a:prstGeom prst="roundRect">
            <a:avLst>
              <a:gd name="adj" fmla="val 2535"/>
            </a:avLst>
          </a:prstGeom>
          <a:solidFill>
            <a:srgbClr val="F4F6F8"/>
          </a:solidFill>
          <a:ln w="12700">
            <a:solidFill>
              <a:srgbClr val="F4F6F8"/>
            </a:solidFill>
            <a:prstDash val="solid"/>
          </a:ln>
        </p:spPr>
      </p:sp>
      <p:sp>
        <p:nvSpPr>
          <p:cNvPr id="9" name="Shape 7"/>
          <p:cNvSpPr/>
          <p:nvPr/>
        </p:nvSpPr>
        <p:spPr>
          <a:xfrm>
            <a:off x="4730496" y="2377440"/>
            <a:ext cx="548640" cy="548640"/>
          </a:xfrm>
          <a:prstGeom prst="ellipse">
            <a:avLst/>
          </a:prstGeom>
          <a:solidFill>
            <a:srgbClr val="E08A2E"/>
          </a:solidFill>
          <a:ln w="12700">
            <a:solidFill>
              <a:srgbClr val="E08A2E"/>
            </a:solidFill>
            <a:prstDash val="solid"/>
          </a:ln>
        </p:spPr>
      </p:sp>
      <p:sp>
        <p:nvSpPr>
          <p:cNvPr id="10" name="Text 8"/>
          <p:cNvSpPr txBox="1"/>
          <p:nvPr/>
        </p:nvSpPr>
        <p:spPr>
          <a:xfrm>
            <a:off x="4730496" y="3154680"/>
            <a:ext cx="2727960" cy="411480"/>
          </a:xfrm>
          <a:prstGeom prst="rect">
            <a:avLst/>
          </a:prstGeom>
          <a:noFill/>
          <a:ln/>
        </p:spPr>
        <p:txBody>
          <a:bodyPr wrap="square" lIns="0" tIns="0" rIns="0" bIns="0" rtlCol="0" anchor="ctr"/>
          <a:lstStyle/>
          <a:p>
            <a:pPr indent="0" marL="0">
              <a:buNone/>
            </a:pPr>
            <a:r>
              <a:rPr lang="en-US" sz="1900" b="1" dirty="0">
                <a:solidFill>
                  <a:srgbClr val="1F2A33"/>
                </a:solidFill>
                <a:latin typeface="Cambria" pitchFamily="34" charset="0"/>
                <a:ea typeface="Cambria" pitchFamily="34" charset="-122"/>
                <a:cs typeface="Cambria" pitchFamily="34" charset="-120"/>
              </a:rPr>
              <a:t>Oftast</a:t>
            </a:r>
            <a:endParaRPr lang="en-US" sz="1900" dirty="0"/>
          </a:p>
        </p:txBody>
      </p:sp>
      <p:sp>
        <p:nvSpPr>
          <p:cNvPr id="11" name="Text 9"/>
          <p:cNvSpPr txBox="1"/>
          <p:nvPr/>
        </p:nvSpPr>
        <p:spPr>
          <a:xfrm>
            <a:off x="4730496" y="3675888"/>
            <a:ext cx="2727960" cy="1371600"/>
          </a:xfrm>
          <a:prstGeom prst="rect">
            <a:avLst/>
          </a:prstGeom>
          <a:noFill/>
          <a:ln/>
        </p:spPr>
        <p:txBody>
          <a:bodyPr wrap="square" lIns="0" tIns="0" rIns="0" bIns="0" rtlCol="0" anchor="t"/>
          <a:lstStyle/>
          <a:p>
            <a:pPr indent="0" marL="0">
              <a:buNone/>
            </a:pPr>
            <a:r>
              <a:rPr lang="en-US" sz="1400" dirty="0">
                <a:solidFill>
                  <a:srgbClr val="5A6B78"/>
                </a:solidFill>
                <a:latin typeface="Calibri" pitchFamily="34" charset="0"/>
                <a:ea typeface="Calibri" pitchFamily="34" charset="-122"/>
                <a:cs typeface="Calibri" pitchFamily="34" charset="-120"/>
              </a:rPr>
              <a:t>Ordningen — om fönstret rymmer minst två hela varv av cykeln.</a:t>
            </a:r>
            <a:endParaRPr lang="en-US" sz="1400" dirty="0"/>
          </a:p>
        </p:txBody>
      </p:sp>
      <p:sp>
        <p:nvSpPr>
          <p:cNvPr id="12" name="Shape 10"/>
          <p:cNvSpPr/>
          <p:nvPr/>
        </p:nvSpPr>
        <p:spPr>
          <a:xfrm>
            <a:off x="8071104" y="1965960"/>
            <a:ext cx="3550920" cy="3246120"/>
          </a:xfrm>
          <a:prstGeom prst="roundRect">
            <a:avLst>
              <a:gd name="adj" fmla="val 2535"/>
            </a:avLst>
          </a:prstGeom>
          <a:solidFill>
            <a:srgbClr val="F4F6F8"/>
          </a:solidFill>
          <a:ln w="12700">
            <a:solidFill>
              <a:srgbClr val="F4F6F8"/>
            </a:solidFill>
            <a:prstDash val="solid"/>
          </a:ln>
        </p:spPr>
      </p:sp>
      <p:sp>
        <p:nvSpPr>
          <p:cNvPr id="13" name="Shape 11"/>
          <p:cNvSpPr/>
          <p:nvPr/>
        </p:nvSpPr>
        <p:spPr>
          <a:xfrm>
            <a:off x="8482584" y="2377440"/>
            <a:ext cx="548640" cy="548640"/>
          </a:xfrm>
          <a:prstGeom prst="ellipse">
            <a:avLst/>
          </a:prstGeom>
          <a:solidFill>
            <a:srgbClr val="C0392B"/>
          </a:solidFill>
          <a:ln w="12700">
            <a:solidFill>
              <a:srgbClr val="C0392B"/>
            </a:solidFill>
            <a:prstDash val="solid"/>
          </a:ln>
        </p:spPr>
      </p:sp>
      <p:sp>
        <p:nvSpPr>
          <p:cNvPr id="14" name="Text 12"/>
          <p:cNvSpPr txBox="1"/>
          <p:nvPr/>
        </p:nvSpPr>
        <p:spPr>
          <a:xfrm>
            <a:off x="8482584" y="3154680"/>
            <a:ext cx="2727960" cy="411480"/>
          </a:xfrm>
          <a:prstGeom prst="rect">
            <a:avLst/>
          </a:prstGeom>
          <a:noFill/>
          <a:ln/>
        </p:spPr>
        <p:txBody>
          <a:bodyPr wrap="square" lIns="0" tIns="0" rIns="0" bIns="0" rtlCol="0" anchor="ctr"/>
          <a:lstStyle/>
          <a:p>
            <a:pPr indent="0" marL="0">
              <a:buNone/>
            </a:pPr>
            <a:r>
              <a:rPr lang="en-US" sz="1900" b="1" dirty="0">
                <a:solidFill>
                  <a:srgbClr val="1F2A33"/>
                </a:solidFill>
                <a:latin typeface="Cambria" pitchFamily="34" charset="0"/>
                <a:ea typeface="Cambria" pitchFamily="34" charset="-122"/>
                <a:cs typeface="Cambria" pitchFamily="34" charset="-120"/>
              </a:rPr>
              <a:t>Ibland inte</a:t>
            </a:r>
            <a:endParaRPr lang="en-US" sz="1900" dirty="0"/>
          </a:p>
        </p:txBody>
      </p:sp>
      <p:sp>
        <p:nvSpPr>
          <p:cNvPr id="15" name="Text 13"/>
          <p:cNvSpPr txBox="1"/>
          <p:nvPr/>
        </p:nvSpPr>
        <p:spPr>
          <a:xfrm>
            <a:off x="8482584" y="3675888"/>
            <a:ext cx="2727960" cy="1371600"/>
          </a:xfrm>
          <a:prstGeom prst="rect">
            <a:avLst/>
          </a:prstGeom>
          <a:noFill/>
          <a:ln/>
        </p:spPr>
        <p:txBody>
          <a:bodyPr wrap="square" lIns="0" tIns="0" rIns="0" bIns="0" rtlCol="0" anchor="t"/>
          <a:lstStyle/>
          <a:p>
            <a:pPr indent="0" marL="0">
              <a:buNone/>
            </a:pPr>
            <a:r>
              <a:rPr lang="en-US" sz="1400" dirty="0">
                <a:solidFill>
                  <a:srgbClr val="5A6B78"/>
                </a:solidFill>
                <a:latin typeface="Calibri" pitchFamily="34" charset="0"/>
                <a:ea typeface="Calibri" pitchFamily="34" charset="-122"/>
                <a:cs typeface="Calibri" pitchFamily="34" charset="-120"/>
              </a:rPr>
              <a:t>En nivå som aldrig besöks under observationen kan inte gissas.</a:t>
            </a:r>
            <a:endParaRPr lang="en-US" sz="1400" dirty="0"/>
          </a:p>
        </p:txBody>
      </p:sp>
      <p:sp>
        <p:nvSpPr>
          <p:cNvPr id="16" name="Text 14"/>
          <p:cNvSpPr txBox="1"/>
          <p:nvPr/>
        </p:nvSpPr>
        <p:spPr>
          <a:xfrm>
            <a:off x="566928" y="5623560"/>
            <a:ext cx="11055096" cy="457200"/>
          </a:xfrm>
          <a:prstGeom prst="rect">
            <a:avLst/>
          </a:prstGeom>
          <a:noFill/>
          <a:ln/>
        </p:spPr>
        <p:txBody>
          <a:bodyPr wrap="square" lIns="0" tIns="0" rIns="0" bIns="0" rtlCol="0" anchor="ctr"/>
          <a:lstStyle/>
          <a:p>
            <a:pPr indent="0" marL="0">
              <a:buNone/>
            </a:pPr>
            <a:r>
              <a:rPr lang="en-US" sz="1400" i="1" dirty="0">
                <a:solidFill>
                  <a:srgbClr val="1F2A33"/>
                </a:solidFill>
                <a:latin typeface="Calibri" pitchFamily="34" charset="0"/>
                <a:ea typeface="Calibri" pitchFamily="34" charset="-122"/>
                <a:cs typeface="Calibri" pitchFamily="34" charset="-120"/>
              </a:rPr>
              <a:t>Skiljer man inte på ”modellen kan inte” och ”signalen bär det inte” optimerar man mot något som inte går att lösa.</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658368"/>
          </a:xfrm>
          <a:prstGeom prst="rect">
            <a:avLst/>
          </a:prstGeom>
          <a:noFill/>
          <a:ln/>
        </p:spPr>
        <p:txBody>
          <a:bodyPr wrap="square" lIns="0" tIns="0" rIns="0" bIns="0" rtlCol="0" anchor="ctr"/>
          <a:lstStyle/>
          <a:p>
            <a:pPr indent="0" marL="0">
              <a:buNone/>
            </a:pPr>
            <a:r>
              <a:rPr lang="en-US" sz="3400" b="1" dirty="0">
                <a:solidFill>
                  <a:srgbClr val="1F2A33"/>
                </a:solidFill>
                <a:latin typeface="Cambria" pitchFamily="34" charset="0"/>
                <a:ea typeface="Cambria" pitchFamily="34" charset="-122"/>
                <a:cs typeface="Cambria" pitchFamily="34" charset="-120"/>
              </a:rPr>
              <a:t>Beskrivningen kan rulla signalen framåt</a:t>
            </a:r>
            <a:endParaRPr lang="en-US" sz="3400" dirty="0"/>
          </a:p>
        </p:txBody>
      </p:sp>
      <p:sp>
        <p:nvSpPr>
          <p:cNvPr id="3" name="Text 1"/>
          <p:cNvSpPr txBox="1"/>
          <p:nvPr/>
        </p:nvSpPr>
        <p:spPr>
          <a:xfrm>
            <a:off x="566928" y="1060704"/>
            <a:ext cx="11055096" cy="384048"/>
          </a:xfrm>
          <a:prstGeom prst="rect">
            <a:avLst/>
          </a:prstGeom>
          <a:noFill/>
          <a:ln/>
        </p:spPr>
        <p:txBody>
          <a:bodyPr wrap="square" lIns="0" tIns="0" rIns="0" bIns="0" rtlCol="0" anchor="ctr"/>
          <a:lstStyle/>
          <a:p>
            <a:pPr indent="0" marL="0">
              <a:buNone/>
            </a:pPr>
            <a:r>
              <a:rPr lang="en-US" sz="1500" dirty="0">
                <a:solidFill>
                  <a:srgbClr val="5A6B78"/>
                </a:solidFill>
                <a:latin typeface="Calibri" pitchFamily="34" charset="0"/>
                <a:ea typeface="Calibri" pitchFamily="34" charset="-122"/>
                <a:cs typeface="Calibri" pitchFamily="34" charset="-120"/>
              </a:rPr>
              <a:t>Samma beskrivning som lagras i biblioteket är en generativ modell av emittern</a:t>
            </a:r>
            <a:endParaRPr lang="en-US" sz="1500" dirty="0"/>
          </a:p>
        </p:txBody>
      </p:sp>
      <p:pic>
        <p:nvPicPr>
          <p:cNvPr id="4" name="Image 0" descr="f3_forecast.png">    </p:cNvPr>
          <p:cNvPicPr>
            <a:picLocks noChangeAspect="1"/>
          </p:cNvPicPr>
          <p:nvPr/>
        </p:nvPicPr>
        <p:blipFill>
          <a:blip r:embed="rId1"/>
          <a:stretch>
            <a:fillRect/>
          </a:stretch>
        </p:blipFill>
        <p:spPr>
          <a:xfrm>
            <a:off x="566928" y="1664208"/>
            <a:ext cx="11055096" cy="4224528"/>
          </a:xfrm>
          <a:prstGeom prst="rect">
            <a:avLst/>
          </a:prstGeom>
        </p:spPr>
      </p:pic>
      <p:sp>
        <p:nvSpPr>
          <p:cNvPr id="5" name="Text 2"/>
          <p:cNvSpPr txBox="1"/>
          <p:nvPr/>
        </p:nvSpPr>
        <p:spPr>
          <a:xfrm>
            <a:off x="566928" y="6016752"/>
            <a:ext cx="11055096" cy="384048"/>
          </a:xfrm>
          <a:prstGeom prst="rect">
            <a:avLst/>
          </a:prstGeom>
          <a:noFill/>
          <a:ln/>
        </p:spPr>
        <p:txBody>
          <a:bodyPr wrap="square" lIns="0" tIns="0" rIns="0" bIns="0" rtlCol="0" anchor="ctr"/>
          <a:lstStyle/>
          <a:p>
            <a:pPr indent="0" marL="0">
              <a:buNone/>
            </a:pPr>
            <a:r>
              <a:rPr lang="en-US" sz="1200" i="1" dirty="0">
                <a:solidFill>
                  <a:srgbClr val="5A6B78"/>
                </a:solidFill>
                <a:latin typeface="Calibri" pitchFamily="34" charset="0"/>
                <a:ea typeface="Calibri" pitchFamily="34" charset="-122"/>
                <a:cs typeface="Calibri" pitchFamily="34" charset="-120"/>
              </a:rPr>
              <a:t>Nivåer, ordning och uppehållstider räcker för att fortsätta pulsföljden. Användbart för att förutse nästa byte, fylla luckor och känna igen samma sändare senare.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658368"/>
          </a:xfrm>
          <a:prstGeom prst="rect">
            <a:avLst/>
          </a:prstGeom>
          <a:noFill/>
          <a:ln/>
        </p:spPr>
        <p:txBody>
          <a:bodyPr wrap="square" lIns="0" tIns="0" rIns="0" bIns="0" rtlCol="0" anchor="ctr"/>
          <a:lstStyle/>
          <a:p>
            <a:pPr indent="0" marL="0">
              <a:buNone/>
            </a:pPr>
            <a:r>
              <a:rPr lang="en-US" sz="3400" b="1" dirty="0">
                <a:solidFill>
                  <a:srgbClr val="1F2A33"/>
                </a:solidFill>
                <a:latin typeface="Cambria" pitchFamily="34" charset="0"/>
                <a:ea typeface="Cambria" pitchFamily="34" charset="-122"/>
                <a:cs typeface="Cambria" pitchFamily="34" charset="-120"/>
              </a:rPr>
              <a:t>Var vi står</a:t>
            </a:r>
            <a:endParaRPr lang="en-US" sz="3400" dirty="0"/>
          </a:p>
        </p:txBody>
      </p:sp>
      <p:sp>
        <p:nvSpPr>
          <p:cNvPr id="3" name="Text 1"/>
          <p:cNvSpPr txBox="1"/>
          <p:nvPr/>
        </p:nvSpPr>
        <p:spPr>
          <a:xfrm>
            <a:off x="566928" y="1060704"/>
            <a:ext cx="11055096" cy="384048"/>
          </a:xfrm>
          <a:prstGeom prst="rect">
            <a:avLst/>
          </a:prstGeom>
          <a:noFill/>
          <a:ln/>
        </p:spPr>
        <p:txBody>
          <a:bodyPr wrap="square" lIns="0" tIns="0" rIns="0" bIns="0" rtlCol="0" anchor="ctr"/>
          <a:lstStyle/>
          <a:p>
            <a:pPr indent="0" marL="0">
              <a:buNone/>
            </a:pPr>
            <a:r>
              <a:rPr lang="en-US" sz="1500" dirty="0">
                <a:solidFill>
                  <a:srgbClr val="5A6B78"/>
                </a:solidFill>
                <a:latin typeface="Calibri" pitchFamily="34" charset="0"/>
                <a:ea typeface="Calibri" pitchFamily="34" charset="-122"/>
                <a:cs typeface="Calibri" pitchFamily="34" charset="-120"/>
              </a:rPr>
              <a:t>Konceptet är på plats, mätverktygen finns, resultaten kommer</a:t>
            </a:r>
            <a:endParaRPr lang="en-US" sz="1500" dirty="0"/>
          </a:p>
        </p:txBody>
      </p:sp>
      <p:sp>
        <p:nvSpPr>
          <p:cNvPr id="4" name="Shape 2"/>
          <p:cNvSpPr/>
          <p:nvPr/>
        </p:nvSpPr>
        <p:spPr>
          <a:xfrm>
            <a:off x="566928" y="1874520"/>
            <a:ext cx="3550920" cy="3840480"/>
          </a:xfrm>
          <a:prstGeom prst="roundRect">
            <a:avLst>
              <a:gd name="adj" fmla="val 2318"/>
            </a:avLst>
          </a:prstGeom>
          <a:solidFill>
            <a:srgbClr val="FFFFFF"/>
          </a:solidFill>
          <a:ln w="12700">
            <a:solidFill>
              <a:srgbClr val="FFFFFF"/>
            </a:solidFill>
            <a:prstDash val="solid"/>
          </a:ln>
        </p:spPr>
      </p:sp>
      <p:sp>
        <p:nvSpPr>
          <p:cNvPr id="5" name="Shape 3"/>
          <p:cNvSpPr/>
          <p:nvPr/>
        </p:nvSpPr>
        <p:spPr>
          <a:xfrm>
            <a:off x="950976" y="2231136"/>
            <a:ext cx="310896" cy="310896"/>
          </a:xfrm>
          <a:prstGeom prst="ellipse">
            <a:avLst/>
          </a:prstGeom>
          <a:solidFill>
            <a:srgbClr val="3F8F5E"/>
          </a:solidFill>
          <a:ln w="12700">
            <a:solidFill>
              <a:srgbClr val="3F8F5E"/>
            </a:solidFill>
            <a:prstDash val="solid"/>
          </a:ln>
        </p:spPr>
      </p:sp>
      <p:sp>
        <p:nvSpPr>
          <p:cNvPr id="6" name="Text 4"/>
          <p:cNvSpPr txBox="1"/>
          <p:nvPr/>
        </p:nvSpPr>
        <p:spPr>
          <a:xfrm>
            <a:off x="1408176" y="2157984"/>
            <a:ext cx="2011680" cy="457200"/>
          </a:xfrm>
          <a:prstGeom prst="rect">
            <a:avLst/>
          </a:prstGeom>
          <a:noFill/>
          <a:ln/>
        </p:spPr>
        <p:txBody>
          <a:bodyPr wrap="square" lIns="0" tIns="0" rIns="0" bIns="0" rtlCol="0" anchor="ctr"/>
          <a:lstStyle/>
          <a:p>
            <a:pPr indent="0" marL="0">
              <a:buNone/>
            </a:pPr>
            <a:r>
              <a:rPr lang="en-US" sz="1900" b="1" dirty="0">
                <a:solidFill>
                  <a:srgbClr val="1F2A33"/>
                </a:solidFill>
                <a:latin typeface="Cambria" pitchFamily="34" charset="0"/>
                <a:ea typeface="Cambria" pitchFamily="34" charset="-122"/>
                <a:cs typeface="Cambria" pitchFamily="34" charset="-120"/>
              </a:rPr>
              <a:t>Klart</a:t>
            </a:r>
            <a:endParaRPr lang="en-US" sz="1900" dirty="0"/>
          </a:p>
        </p:txBody>
      </p:sp>
      <p:sp>
        <p:nvSpPr>
          <p:cNvPr id="7" name="Text 5"/>
          <p:cNvSpPr txBox="1"/>
          <p:nvPr/>
        </p:nvSpPr>
        <p:spPr>
          <a:xfrm>
            <a:off x="950976" y="2788920"/>
            <a:ext cx="2727960" cy="269748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rgbClr val="5A6B78"/>
                </a:solidFill>
                <a:latin typeface="Calibri" pitchFamily="34" charset="0"/>
                <a:ea typeface="Calibri" pitchFamily="34" charset="-122"/>
                <a:cs typeface="Calibri" pitchFamily="34" charset="-120"/>
              </a:rPr>
              <a:t>Encoder–avkodare som genomgående ger giltiga poster</a:t>
            </a:r>
            <a:endParaRPr lang="en-US" sz="1350" dirty="0"/>
          </a:p>
          <a:p>
            <a:pPr marL="342900" indent="-342900">
              <a:spcAft>
                <a:spcPts val="900"/>
              </a:spcAft>
              <a:buSzPct val="100000"/>
              <a:buChar char="•"/>
            </a:pPr>
            <a:r>
              <a:rPr lang="en-US" sz="1350" dirty="0">
                <a:solidFill>
                  <a:srgbClr val="5A6B78"/>
                </a:solidFill>
                <a:latin typeface="Calibri" pitchFamily="34" charset="0"/>
                <a:ea typeface="Calibri" pitchFamily="34" charset="-122"/>
                <a:cs typeface="Calibri" pitchFamily="34" charset="-120"/>
              </a:rPr>
              <a:t>Beskrivningsformat med entydig kanonisering</a:t>
            </a:r>
            <a:endParaRPr lang="en-US" sz="1350" dirty="0"/>
          </a:p>
          <a:p>
            <a:pPr marL="342900" indent="-342900">
              <a:spcAft>
                <a:spcPts val="900"/>
              </a:spcAft>
              <a:buSzPct val="100000"/>
              <a:buChar char="•"/>
            </a:pPr>
            <a:r>
              <a:rPr lang="en-US" sz="1350" dirty="0">
                <a:solidFill>
                  <a:srgbClr val="5A6B78"/>
                </a:solidFill>
                <a:latin typeface="Calibri" pitchFamily="34" charset="0"/>
                <a:ea typeface="Calibri" pitchFamily="34" charset="-122"/>
                <a:cs typeface="Calibri" pitchFamily="34" charset="-120"/>
              </a:rPr>
              <a:t>Mätverktyg för vad som är möjligt att härleda</a:t>
            </a:r>
            <a:endParaRPr lang="en-US" sz="1350" dirty="0"/>
          </a:p>
        </p:txBody>
      </p:sp>
      <p:sp>
        <p:nvSpPr>
          <p:cNvPr id="8" name="Shape 6"/>
          <p:cNvSpPr/>
          <p:nvPr/>
        </p:nvSpPr>
        <p:spPr>
          <a:xfrm>
            <a:off x="4319016" y="1874520"/>
            <a:ext cx="3550920" cy="3840480"/>
          </a:xfrm>
          <a:prstGeom prst="roundRect">
            <a:avLst>
              <a:gd name="adj" fmla="val 2318"/>
            </a:avLst>
          </a:prstGeom>
          <a:solidFill>
            <a:srgbClr val="FFFFFF"/>
          </a:solidFill>
          <a:ln w="12700">
            <a:solidFill>
              <a:srgbClr val="FFFFFF"/>
            </a:solidFill>
            <a:prstDash val="solid"/>
          </a:ln>
        </p:spPr>
      </p:sp>
      <p:sp>
        <p:nvSpPr>
          <p:cNvPr id="9" name="Shape 7"/>
          <p:cNvSpPr/>
          <p:nvPr/>
        </p:nvSpPr>
        <p:spPr>
          <a:xfrm>
            <a:off x="4703064" y="2231136"/>
            <a:ext cx="310896" cy="310896"/>
          </a:xfrm>
          <a:prstGeom prst="ellipse">
            <a:avLst/>
          </a:prstGeom>
          <a:solidFill>
            <a:srgbClr val="E08A2E"/>
          </a:solidFill>
          <a:ln w="12700">
            <a:solidFill>
              <a:srgbClr val="E08A2E"/>
            </a:solidFill>
            <a:prstDash val="solid"/>
          </a:ln>
        </p:spPr>
      </p:sp>
      <p:sp>
        <p:nvSpPr>
          <p:cNvPr id="10" name="Text 8"/>
          <p:cNvSpPr txBox="1"/>
          <p:nvPr/>
        </p:nvSpPr>
        <p:spPr>
          <a:xfrm>
            <a:off x="5160264" y="2157984"/>
            <a:ext cx="2011680" cy="457200"/>
          </a:xfrm>
          <a:prstGeom prst="rect">
            <a:avLst/>
          </a:prstGeom>
          <a:noFill/>
          <a:ln/>
        </p:spPr>
        <p:txBody>
          <a:bodyPr wrap="square" lIns="0" tIns="0" rIns="0" bIns="0" rtlCol="0" anchor="ctr"/>
          <a:lstStyle/>
          <a:p>
            <a:pPr indent="0" marL="0">
              <a:buNone/>
            </a:pPr>
            <a:r>
              <a:rPr lang="en-US" sz="1900" b="1" dirty="0">
                <a:solidFill>
                  <a:srgbClr val="1F2A33"/>
                </a:solidFill>
                <a:latin typeface="Cambria" pitchFamily="34" charset="0"/>
                <a:ea typeface="Cambria" pitchFamily="34" charset="-122"/>
                <a:cs typeface="Cambria" pitchFamily="34" charset="-120"/>
              </a:rPr>
              <a:t>Pågår</a:t>
            </a:r>
            <a:endParaRPr lang="en-US" sz="1900" dirty="0"/>
          </a:p>
        </p:txBody>
      </p:sp>
      <p:sp>
        <p:nvSpPr>
          <p:cNvPr id="11" name="Text 9"/>
          <p:cNvSpPr txBox="1"/>
          <p:nvPr/>
        </p:nvSpPr>
        <p:spPr>
          <a:xfrm>
            <a:off x="4703064" y="2788920"/>
            <a:ext cx="2727960" cy="269748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rgbClr val="5A6B78"/>
                </a:solidFill>
                <a:latin typeface="Calibri" pitchFamily="34" charset="0"/>
                <a:ea typeface="Calibri" pitchFamily="34" charset="-122"/>
                <a:cs typeface="Calibri" pitchFamily="34" charset="-120"/>
              </a:rPr>
              <a:t>Första träningen på det färdiga upplägget</a:t>
            </a:r>
            <a:endParaRPr lang="en-US" sz="1350" dirty="0"/>
          </a:p>
          <a:p>
            <a:pPr marL="342900" indent="-342900">
              <a:spcAft>
                <a:spcPts val="900"/>
              </a:spcAft>
              <a:buSzPct val="100000"/>
              <a:buChar char="•"/>
            </a:pPr>
            <a:r>
              <a:rPr lang="en-US" sz="1350" dirty="0">
                <a:solidFill>
                  <a:srgbClr val="5A6B78"/>
                </a:solidFill>
                <a:latin typeface="Calibri" pitchFamily="34" charset="0"/>
                <a:ea typeface="Calibri" pitchFamily="34" charset="-122"/>
                <a:cs typeface="Calibri" pitchFamily="34" charset="-120"/>
              </a:rPr>
              <a:t>Jämförelse mot en regelbaserad baslinje</a:t>
            </a:r>
            <a:endParaRPr lang="en-US" sz="1350" dirty="0"/>
          </a:p>
          <a:p>
            <a:pPr marL="342900" indent="-342900">
              <a:spcAft>
                <a:spcPts val="900"/>
              </a:spcAft>
              <a:buSzPct val="100000"/>
              <a:buChar char="•"/>
            </a:pPr>
            <a:r>
              <a:rPr lang="en-US" sz="1350" dirty="0">
                <a:solidFill>
                  <a:srgbClr val="5A6B78"/>
                </a:solidFill>
                <a:latin typeface="Calibri" pitchFamily="34" charset="0"/>
                <a:ea typeface="Calibri" pitchFamily="34" charset="-122"/>
                <a:cs typeface="Calibri" pitchFamily="34" charset="-120"/>
              </a:rPr>
              <a:t>Mätning av robusthet mot bortfall</a:t>
            </a:r>
            <a:endParaRPr lang="en-US" sz="1350" dirty="0"/>
          </a:p>
        </p:txBody>
      </p:sp>
      <p:sp>
        <p:nvSpPr>
          <p:cNvPr id="12" name="Shape 10"/>
          <p:cNvSpPr/>
          <p:nvPr/>
        </p:nvSpPr>
        <p:spPr>
          <a:xfrm>
            <a:off x="8071104" y="1874520"/>
            <a:ext cx="3550920" cy="3840480"/>
          </a:xfrm>
          <a:prstGeom prst="roundRect">
            <a:avLst>
              <a:gd name="adj" fmla="val 2318"/>
            </a:avLst>
          </a:prstGeom>
          <a:solidFill>
            <a:srgbClr val="FFFFFF"/>
          </a:solidFill>
          <a:ln w="12700">
            <a:solidFill>
              <a:srgbClr val="FFFFFF"/>
            </a:solidFill>
            <a:prstDash val="solid"/>
          </a:ln>
        </p:spPr>
      </p:sp>
      <p:sp>
        <p:nvSpPr>
          <p:cNvPr id="13" name="Shape 11"/>
          <p:cNvSpPr/>
          <p:nvPr/>
        </p:nvSpPr>
        <p:spPr>
          <a:xfrm>
            <a:off x="8455152" y="2231136"/>
            <a:ext cx="310896" cy="310896"/>
          </a:xfrm>
          <a:prstGeom prst="ellipse">
            <a:avLst/>
          </a:prstGeom>
          <a:solidFill>
            <a:srgbClr val="2F6FB2"/>
          </a:solidFill>
          <a:ln w="12700">
            <a:solidFill>
              <a:srgbClr val="2F6FB2"/>
            </a:solidFill>
            <a:prstDash val="solid"/>
          </a:ln>
        </p:spPr>
      </p:sp>
      <p:sp>
        <p:nvSpPr>
          <p:cNvPr id="14" name="Text 12"/>
          <p:cNvSpPr txBox="1"/>
          <p:nvPr/>
        </p:nvSpPr>
        <p:spPr>
          <a:xfrm>
            <a:off x="8912352" y="2157984"/>
            <a:ext cx="2011680" cy="457200"/>
          </a:xfrm>
          <a:prstGeom prst="rect">
            <a:avLst/>
          </a:prstGeom>
          <a:noFill/>
          <a:ln/>
        </p:spPr>
        <p:txBody>
          <a:bodyPr wrap="square" lIns="0" tIns="0" rIns="0" bIns="0" rtlCol="0" anchor="ctr"/>
          <a:lstStyle/>
          <a:p>
            <a:pPr indent="0" marL="0">
              <a:buNone/>
            </a:pPr>
            <a:r>
              <a:rPr lang="en-US" sz="1900" b="1" dirty="0">
                <a:solidFill>
                  <a:srgbClr val="1F2A33"/>
                </a:solidFill>
                <a:latin typeface="Cambria" pitchFamily="34" charset="0"/>
                <a:ea typeface="Cambria" pitchFamily="34" charset="-122"/>
                <a:cs typeface="Cambria" pitchFamily="34" charset="-120"/>
              </a:rPr>
              <a:t>Sedan</a:t>
            </a:r>
            <a:endParaRPr lang="en-US" sz="1900" dirty="0"/>
          </a:p>
        </p:txBody>
      </p:sp>
      <p:sp>
        <p:nvSpPr>
          <p:cNvPr id="15" name="Text 13"/>
          <p:cNvSpPr txBox="1"/>
          <p:nvPr/>
        </p:nvSpPr>
        <p:spPr>
          <a:xfrm>
            <a:off x="8455152" y="2788920"/>
            <a:ext cx="2727960" cy="269748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rgbClr val="5A6B78"/>
                </a:solidFill>
                <a:latin typeface="Calibri" pitchFamily="34" charset="0"/>
                <a:ea typeface="Calibri" pitchFamily="34" charset="-122"/>
                <a:cs typeface="Calibri" pitchFamily="34" charset="-120"/>
              </a:rPr>
              <a:t>Flera emittrar i samma pulsström</a:t>
            </a:r>
            <a:endParaRPr lang="en-US" sz="1350" dirty="0"/>
          </a:p>
          <a:p>
            <a:pPr marL="342900" indent="-342900">
              <a:spcAft>
                <a:spcPts val="900"/>
              </a:spcAft>
              <a:buSzPct val="100000"/>
              <a:buChar char="•"/>
            </a:pPr>
            <a:r>
              <a:rPr lang="en-US" sz="1350" dirty="0">
                <a:solidFill>
                  <a:srgbClr val="5A6B78"/>
                </a:solidFill>
                <a:latin typeface="Calibri" pitchFamily="34" charset="0"/>
                <a:ea typeface="Calibri" pitchFamily="34" charset="-122"/>
                <a:cs typeface="Calibri" pitchFamily="34" charset="-120"/>
              </a:rPr>
              <a:t>Längre observationsfönster där det behövs</a:t>
            </a:r>
            <a:endParaRPr lang="en-US" sz="1350" dirty="0"/>
          </a:p>
          <a:p>
            <a:pPr marL="342900" indent="-342900">
              <a:spcAft>
                <a:spcPts val="900"/>
              </a:spcAft>
              <a:buSzPct val="100000"/>
              <a:buChar char="•"/>
            </a:pPr>
            <a:r>
              <a:rPr lang="en-US" sz="1350" dirty="0">
                <a:solidFill>
                  <a:srgbClr val="5A6B78"/>
                </a:solidFill>
                <a:latin typeface="Calibri" pitchFamily="34" charset="0"/>
                <a:ea typeface="Calibri" pitchFamily="34" charset="-122"/>
                <a:cs typeface="Calibri" pitchFamily="34" charset="-120"/>
              </a:rPr>
              <a:t>Utvärdering mot insamlad signal</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A38"/>
        </a:solidFill>
      </p:bgPr>
    </p:bg>
    <p:spTree>
      <p:nvGrpSpPr>
        <p:cNvPr id="1" name=""/>
        <p:cNvGrpSpPr/>
        <p:nvPr/>
      </p:nvGrpSpPr>
      <p:grpSpPr>
        <a:xfrm>
          <a:off x="0" y="0"/>
          <a:ext cx="0" cy="0"/>
          <a:chOff x="0" y="0"/>
          <a:chExt cx="0" cy="0"/>
        </a:xfrm>
      </p:grpSpPr>
      <p:sp>
        <p:nvSpPr>
          <p:cNvPr id="2" name="Text 0"/>
          <p:cNvSpPr txBox="1"/>
          <p:nvPr/>
        </p:nvSpPr>
        <p:spPr>
          <a:xfrm>
            <a:off x="566928" y="2011680"/>
            <a:ext cx="11055096" cy="457200"/>
          </a:xfrm>
          <a:prstGeom prst="rect">
            <a:avLst/>
          </a:prstGeom>
          <a:noFill/>
          <a:ln/>
        </p:spPr>
        <p:txBody>
          <a:bodyPr wrap="square" lIns="0" tIns="0" rIns="0" bIns="0" rtlCol="0" anchor="ctr"/>
          <a:lstStyle/>
          <a:p>
            <a:pPr indent="0" marL="0">
              <a:buNone/>
            </a:pPr>
            <a:r>
              <a:rPr lang="en-US" sz="1600" dirty="0">
                <a:solidFill>
                  <a:srgbClr val="E08A2E"/>
                </a:solidFill>
                <a:latin typeface="Calibri" pitchFamily="34" charset="0"/>
                <a:ea typeface="Calibri" pitchFamily="34" charset="-122"/>
                <a:cs typeface="Calibri" pitchFamily="34" charset="-120"/>
              </a:rPr>
              <a:t>Kärnan i en mening</a:t>
            </a:r>
            <a:endParaRPr lang="en-US" sz="1600" dirty="0"/>
          </a:p>
        </p:txBody>
      </p:sp>
      <p:sp>
        <p:nvSpPr>
          <p:cNvPr id="3" name="Text 1"/>
          <p:cNvSpPr txBox="1"/>
          <p:nvPr/>
        </p:nvSpPr>
        <p:spPr>
          <a:xfrm>
            <a:off x="566928" y="2697480"/>
            <a:ext cx="10241280" cy="2194560"/>
          </a:xfrm>
          <a:prstGeom prst="rect">
            <a:avLst/>
          </a:prstGeom>
          <a:noFill/>
          <a:ln/>
        </p:spPr>
        <p:txBody>
          <a:bodyPr wrap="square" lIns="0" tIns="0" rIns="0" bIns="0" rtlCol="0" anchor="ctr"/>
          <a:lstStyle/>
          <a:p>
            <a:pPr indent="0" marL="0">
              <a:lnSpc>
                <a:spcPts val="4400"/>
              </a:lnSpc>
              <a:buNone/>
            </a:pPr>
            <a:r>
              <a:rPr lang="en-US" sz="3000" b="1" dirty="0">
                <a:solidFill>
                  <a:srgbClr val="FFFFFF"/>
                </a:solidFill>
                <a:latin typeface="Cambria" pitchFamily="34" charset="0"/>
                <a:ea typeface="Cambria" pitchFamily="34" charset="-122"/>
                <a:cs typeface="Cambria" pitchFamily="34" charset="-120"/>
              </a:rPr>
              <a:t>Vi lär en modell att läsa en pulsföljd och skriva</a:t>
            </a:r>
            <a:endParaRPr lang="en-US" sz="3000" dirty="0"/>
          </a:p>
          <a:p>
            <a:pPr indent="0" marL="0">
              <a:lnSpc>
                <a:spcPts val="4400"/>
              </a:lnSpc>
              <a:buNone/>
            </a:pPr>
            <a:r>
              <a:rPr lang="en-US" sz="3000" b="1" dirty="0">
                <a:solidFill>
                  <a:srgbClr val="FFFFFF"/>
                </a:solidFill>
                <a:latin typeface="Cambria" pitchFamily="34" charset="0"/>
                <a:ea typeface="Cambria" pitchFamily="34" charset="-122"/>
                <a:cs typeface="Cambria" pitchFamily="34" charset="-120"/>
              </a:rPr>
              <a:t>vad sändaren gör — i ett format som både kan</a:t>
            </a:r>
            <a:endParaRPr lang="en-US" sz="3000" dirty="0"/>
          </a:p>
          <a:p>
            <a:pPr indent="0" marL="0">
              <a:lnSpc>
                <a:spcPts val="4400"/>
              </a:lnSpc>
              <a:buNone/>
            </a:pPr>
            <a:r>
              <a:rPr lang="en-US" sz="3000" b="1" dirty="0">
                <a:solidFill>
                  <a:srgbClr val="FFFFFF"/>
                </a:solidFill>
                <a:latin typeface="Cambria" pitchFamily="34" charset="0"/>
                <a:ea typeface="Cambria" pitchFamily="34" charset="-122"/>
                <a:cs typeface="Cambria" pitchFamily="34" charset="-120"/>
              </a:rPr>
              <a:t>lagras och rullas framåt.</a:t>
            </a:r>
            <a:endParaRPr lang="en-US" sz="3000" dirty="0"/>
          </a:p>
        </p:txBody>
      </p:sp>
      <p:sp>
        <p:nvSpPr>
          <p:cNvPr id="4" name="Text 2"/>
          <p:cNvSpPr txBox="1"/>
          <p:nvPr/>
        </p:nvSpPr>
        <p:spPr>
          <a:xfrm>
            <a:off x="566928" y="5394960"/>
            <a:ext cx="3657600" cy="457200"/>
          </a:xfrm>
          <a:prstGeom prst="rect">
            <a:avLst/>
          </a:prstGeom>
          <a:noFill/>
          <a:ln/>
        </p:spPr>
        <p:txBody>
          <a:bodyPr wrap="square" lIns="0" tIns="0" rIns="0" bIns="0" rtlCol="0" anchor="ctr"/>
          <a:lstStyle/>
          <a:p>
            <a:pPr indent="0" marL="0">
              <a:buNone/>
            </a:pPr>
            <a:r>
              <a:rPr lang="en-US" sz="1700" dirty="0">
                <a:solidFill>
                  <a:srgbClr val="C9D6E0"/>
                </a:solidFill>
                <a:latin typeface="Calibri" pitchFamily="34" charset="0"/>
                <a:ea typeface="Calibri" pitchFamily="34" charset="-122"/>
                <a:cs typeface="Calibri" pitchFamily="34" charset="-120"/>
              </a:rPr>
              <a:t>Frågor</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2026-09-17T17:57:28Z</dcterms:created>
  <dcterms:modified xsi:type="dcterms:W3CDTF">2026-09-17T17:57:28Z</dcterms:modified>
</cp:coreProperties>
</file>